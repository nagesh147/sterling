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72" r:id="rId12"/>
    <p:sldId id="273" r:id="rId13"/>
    <p:sldId id="265" r:id="rId14"/>
    <p:sldId id="267" r:id="rId15"/>
    <p:sldId id="268" r:id="rId16"/>
    <p:sldId id="269" r:id="rId17"/>
    <p:sldId id="274" r:id="rId18"/>
    <p:sldId id="270" r:id="rId19"/>
    <p:sldId id="271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108" d="100"/>
          <a:sy n="108" d="100"/>
        </p:scale>
        <p:origin x="65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3273" y="242442"/>
            <a:ext cx="8942705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BCD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BCD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BCD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659" y="0"/>
            <a:ext cx="4332732" cy="59466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BCD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819" y="322275"/>
            <a:ext cx="248729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BCD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35554" y="2407411"/>
            <a:ext cx="6120891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11" Type="http://schemas.openxmlformats.org/officeDocument/2006/relationships/image" Target="../media/image42.jpg"/><Relationship Id="rId5" Type="http://schemas.openxmlformats.org/officeDocument/2006/relationships/image" Target="../media/image36.png"/><Relationship Id="rId10" Type="http://schemas.openxmlformats.org/officeDocument/2006/relationships/image" Target="../media/image41.jpg"/><Relationship Id="rId4" Type="http://schemas.openxmlformats.org/officeDocument/2006/relationships/image" Target="../media/image35.jp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mailto:support@truedata.in" TargetMode="Externa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ruedata.in/" TargetMode="Externa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7861" y="2568905"/>
            <a:ext cx="349504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306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</a:rPr>
              <a:t>Positioning </a:t>
            </a:r>
            <a:r>
              <a:rPr sz="4000" dirty="0">
                <a:solidFill>
                  <a:srgbClr val="FFFFFF"/>
                </a:solidFill>
              </a:rPr>
              <a:t>you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for</a:t>
            </a:r>
            <a:r>
              <a:rPr sz="4000" spc="-10" dirty="0">
                <a:solidFill>
                  <a:srgbClr val="FFFFFF"/>
                </a:solidFill>
              </a:rPr>
              <a:t> Profits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4667" y="620268"/>
            <a:ext cx="2682239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8952" cy="602551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36902" y="284734"/>
            <a:ext cx="2703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</a:rPr>
              <a:t>About</a:t>
            </a:r>
            <a:r>
              <a:rPr sz="4800" spc="-120" dirty="0">
                <a:solidFill>
                  <a:srgbClr val="FFFFFF"/>
                </a:solidFill>
              </a:rPr>
              <a:t> </a:t>
            </a:r>
            <a:r>
              <a:rPr sz="4800" b="0" spc="-25" dirty="0">
                <a:solidFill>
                  <a:srgbClr val="FFFFFF"/>
                </a:solidFill>
                <a:latin typeface="Arial MT"/>
                <a:cs typeface="Arial MT"/>
              </a:rPr>
              <a:t>Us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6902" y="1367942"/>
            <a:ext cx="533146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TrueData™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Pvt.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Ltd.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an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Authorized</a:t>
            </a: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NS</a:t>
            </a: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E, BSE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MCX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Vendor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offer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various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innovative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solutions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sz="1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sector.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600" dirty="0">
              <a:latin typeface="Arial MT"/>
              <a:cs typeface="Arial MT"/>
            </a:endParaRPr>
          </a:p>
          <a:p>
            <a:pPr marL="12700" marR="62230">
              <a:lnSpc>
                <a:spcPct val="120000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look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ahead,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ourselves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offering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variety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applications,</a:t>
            </a:r>
            <a:r>
              <a:rPr sz="16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solutions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services,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related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Technical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Analysis,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Analytics,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Algo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Trading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various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solutions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financial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16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industry.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39823" y="1196339"/>
            <a:ext cx="1224280" cy="0"/>
          </a:xfrm>
          <a:custGeom>
            <a:avLst/>
            <a:gdLst/>
            <a:ahLst/>
            <a:cxnLst/>
            <a:rect l="l" t="t" r="r" b="b"/>
            <a:pathLst>
              <a:path w="1224280">
                <a:moveTo>
                  <a:pt x="0" y="0"/>
                </a:moveTo>
                <a:lnTo>
                  <a:pt x="1224152" y="0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94319" y="0"/>
              <a:ext cx="4295140" cy="3404870"/>
            </a:xfrm>
            <a:custGeom>
              <a:avLst/>
              <a:gdLst/>
              <a:ahLst/>
              <a:cxnLst/>
              <a:rect l="l" t="t" r="r" b="b"/>
              <a:pathLst>
                <a:path w="4295140" h="3404870">
                  <a:moveTo>
                    <a:pt x="4294632" y="0"/>
                  </a:moveTo>
                  <a:lnTo>
                    <a:pt x="0" y="0"/>
                  </a:lnTo>
                  <a:lnTo>
                    <a:pt x="0" y="2445512"/>
                  </a:lnTo>
                  <a:lnTo>
                    <a:pt x="1199" y="2494868"/>
                  </a:lnTo>
                  <a:lnTo>
                    <a:pt x="4759" y="2543577"/>
                  </a:lnTo>
                  <a:lnTo>
                    <a:pt x="10622" y="2591578"/>
                  </a:lnTo>
                  <a:lnTo>
                    <a:pt x="18729" y="2638810"/>
                  </a:lnTo>
                  <a:lnTo>
                    <a:pt x="29023" y="2685213"/>
                  </a:lnTo>
                  <a:lnTo>
                    <a:pt x="41446" y="2730727"/>
                  </a:lnTo>
                  <a:lnTo>
                    <a:pt x="55940" y="2775291"/>
                  </a:lnTo>
                  <a:lnTo>
                    <a:pt x="72447" y="2818846"/>
                  </a:lnTo>
                  <a:lnTo>
                    <a:pt x="90909" y="2861331"/>
                  </a:lnTo>
                  <a:lnTo>
                    <a:pt x="111268" y="2902686"/>
                  </a:lnTo>
                  <a:lnTo>
                    <a:pt x="133466" y="2942850"/>
                  </a:lnTo>
                  <a:lnTo>
                    <a:pt x="157446" y="2981764"/>
                  </a:lnTo>
                  <a:lnTo>
                    <a:pt x="183148" y="3019367"/>
                  </a:lnTo>
                  <a:lnTo>
                    <a:pt x="210516" y="3055598"/>
                  </a:lnTo>
                  <a:lnTo>
                    <a:pt x="239492" y="3090399"/>
                  </a:lnTo>
                  <a:lnTo>
                    <a:pt x="270017" y="3123707"/>
                  </a:lnTo>
                  <a:lnTo>
                    <a:pt x="302034" y="3155464"/>
                  </a:lnTo>
                  <a:lnTo>
                    <a:pt x="335485" y="3185609"/>
                  </a:lnTo>
                  <a:lnTo>
                    <a:pt x="370311" y="3214081"/>
                  </a:lnTo>
                  <a:lnTo>
                    <a:pt x="406455" y="3240820"/>
                  </a:lnTo>
                  <a:lnTo>
                    <a:pt x="443859" y="3265767"/>
                  </a:lnTo>
                  <a:lnTo>
                    <a:pt x="482466" y="3288861"/>
                  </a:lnTo>
                  <a:lnTo>
                    <a:pt x="522216" y="3310041"/>
                  </a:lnTo>
                  <a:lnTo>
                    <a:pt x="563052" y="3329247"/>
                  </a:lnTo>
                  <a:lnTo>
                    <a:pt x="604917" y="3346419"/>
                  </a:lnTo>
                  <a:lnTo>
                    <a:pt x="647751" y="3361498"/>
                  </a:lnTo>
                  <a:lnTo>
                    <a:pt x="691499" y="3374422"/>
                  </a:lnTo>
                  <a:lnTo>
                    <a:pt x="736100" y="3385131"/>
                  </a:lnTo>
                  <a:lnTo>
                    <a:pt x="781498" y="3393565"/>
                  </a:lnTo>
                  <a:lnTo>
                    <a:pt x="827635" y="3399664"/>
                  </a:lnTo>
                  <a:lnTo>
                    <a:pt x="874452" y="3403368"/>
                  </a:lnTo>
                  <a:lnTo>
                    <a:pt x="921893" y="3404616"/>
                  </a:lnTo>
                  <a:lnTo>
                    <a:pt x="4294632" y="3404616"/>
                  </a:lnTo>
                  <a:lnTo>
                    <a:pt x="4294632" y="0"/>
                  </a:lnTo>
                  <a:close/>
                </a:path>
              </a:pathLst>
            </a:custGeom>
            <a:solidFill>
              <a:srgbClr val="FFA8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" y="3788664"/>
              <a:ext cx="3878579" cy="3069590"/>
            </a:xfrm>
            <a:custGeom>
              <a:avLst/>
              <a:gdLst/>
              <a:ahLst/>
              <a:cxnLst/>
              <a:rect l="l" t="t" r="r" b="b"/>
              <a:pathLst>
                <a:path w="3878579" h="3069590">
                  <a:moveTo>
                    <a:pt x="3045967" y="0"/>
                  </a:moveTo>
                  <a:lnTo>
                    <a:pt x="0" y="0"/>
                  </a:lnTo>
                  <a:lnTo>
                    <a:pt x="0" y="3069335"/>
                  </a:lnTo>
                  <a:lnTo>
                    <a:pt x="3878579" y="3069335"/>
                  </a:lnTo>
                  <a:lnTo>
                    <a:pt x="3878579" y="880999"/>
                  </a:lnTo>
                  <a:lnTo>
                    <a:pt x="3877262" y="831008"/>
                  </a:lnTo>
                  <a:lnTo>
                    <a:pt x="3873355" y="781749"/>
                  </a:lnTo>
                  <a:lnTo>
                    <a:pt x="3866929" y="733295"/>
                  </a:lnTo>
                  <a:lnTo>
                    <a:pt x="3858055" y="685722"/>
                  </a:lnTo>
                  <a:lnTo>
                    <a:pt x="3846802" y="639102"/>
                  </a:lnTo>
                  <a:lnTo>
                    <a:pt x="3833242" y="593512"/>
                  </a:lnTo>
                  <a:lnTo>
                    <a:pt x="3817444" y="549025"/>
                  </a:lnTo>
                  <a:lnTo>
                    <a:pt x="3799478" y="505716"/>
                  </a:lnTo>
                  <a:lnTo>
                    <a:pt x="3779415" y="463659"/>
                  </a:lnTo>
                  <a:lnTo>
                    <a:pt x="3757326" y="422928"/>
                  </a:lnTo>
                  <a:lnTo>
                    <a:pt x="3733279" y="383598"/>
                  </a:lnTo>
                  <a:lnTo>
                    <a:pt x="3707347" y="345743"/>
                  </a:lnTo>
                  <a:lnTo>
                    <a:pt x="3679598" y="309437"/>
                  </a:lnTo>
                  <a:lnTo>
                    <a:pt x="3650104" y="274756"/>
                  </a:lnTo>
                  <a:lnTo>
                    <a:pt x="3618934" y="241773"/>
                  </a:lnTo>
                  <a:lnTo>
                    <a:pt x="3586158" y="210563"/>
                  </a:lnTo>
                  <a:lnTo>
                    <a:pt x="3551848" y="181200"/>
                  </a:lnTo>
                  <a:lnTo>
                    <a:pt x="3516073" y="153758"/>
                  </a:lnTo>
                  <a:lnTo>
                    <a:pt x="3478903" y="128313"/>
                  </a:lnTo>
                  <a:lnTo>
                    <a:pt x="3440409" y="104938"/>
                  </a:lnTo>
                  <a:lnTo>
                    <a:pt x="3400661" y="83707"/>
                  </a:lnTo>
                  <a:lnTo>
                    <a:pt x="3359729" y="64696"/>
                  </a:lnTo>
                  <a:lnTo>
                    <a:pt x="3317685" y="47978"/>
                  </a:lnTo>
                  <a:lnTo>
                    <a:pt x="3274596" y="33628"/>
                  </a:lnTo>
                  <a:lnTo>
                    <a:pt x="3230535" y="21720"/>
                  </a:lnTo>
                  <a:lnTo>
                    <a:pt x="3185572" y="12329"/>
                  </a:lnTo>
                  <a:lnTo>
                    <a:pt x="3139776" y="5529"/>
                  </a:lnTo>
                  <a:lnTo>
                    <a:pt x="3093217" y="1394"/>
                  </a:lnTo>
                  <a:lnTo>
                    <a:pt x="3045967" y="0"/>
                  </a:lnTo>
                  <a:close/>
                </a:path>
              </a:pathLst>
            </a:custGeom>
            <a:solidFill>
              <a:srgbClr val="D96F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0271" y="1237487"/>
              <a:ext cx="4366259" cy="44455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4696" y="1543811"/>
              <a:ext cx="3677411" cy="375666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18819" y="331089"/>
            <a:ext cx="1852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</a:rPr>
              <a:t>Founder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500583" y="1671235"/>
            <a:ext cx="3142615" cy="116776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800" b="1" i="1" dirty="0">
                <a:solidFill>
                  <a:srgbClr val="FFFFFF"/>
                </a:solidFill>
                <a:latin typeface="Arial"/>
                <a:cs typeface="Arial"/>
              </a:rPr>
              <a:t>Mr.</a:t>
            </a:r>
            <a:r>
              <a:rPr sz="2800" b="1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FFFF"/>
                </a:solidFill>
                <a:latin typeface="Arial"/>
                <a:cs typeface="Arial"/>
              </a:rPr>
              <a:t>Kapil</a:t>
            </a:r>
            <a:r>
              <a:rPr sz="2800" b="1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FFFF"/>
                </a:solidFill>
                <a:latin typeface="Arial"/>
                <a:cs typeface="Arial"/>
              </a:rPr>
              <a:t>Marwaha</a:t>
            </a:r>
            <a:endParaRPr sz="2800">
              <a:latin typeface="Arial"/>
              <a:cs typeface="Arial"/>
            </a:endParaRPr>
          </a:p>
          <a:p>
            <a:pPr marR="36830" algn="r">
              <a:lnSpc>
                <a:spcPts val="1895"/>
              </a:lnSpc>
              <a:spcBef>
                <a:spcPts val="66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Founder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Managing</a:t>
            </a:r>
            <a:endParaRPr sz="1600">
              <a:latin typeface="Arial MT"/>
              <a:cs typeface="Arial MT"/>
            </a:endParaRPr>
          </a:p>
          <a:p>
            <a:pPr marR="36195" algn="r">
              <a:lnSpc>
                <a:spcPts val="1895"/>
              </a:lnSpc>
            </a:pP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Director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7130" y="763041"/>
            <a:ext cx="2832735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TrueData™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founded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by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Mr.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Kapil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Marwaha.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He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an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Ex-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Air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Force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Helicopter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pilot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leader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organization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years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experience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vending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associated services.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7368" y="408431"/>
            <a:ext cx="8348980" cy="4121150"/>
            <a:chOff x="277368" y="408431"/>
            <a:chExt cx="8348980" cy="4121150"/>
          </a:xfrm>
        </p:grpSpPr>
        <p:sp>
          <p:nvSpPr>
            <p:cNvPr id="12" name="object 12"/>
            <p:cNvSpPr/>
            <p:nvPr/>
          </p:nvSpPr>
          <p:spPr>
            <a:xfrm>
              <a:off x="277368" y="408431"/>
              <a:ext cx="8348980" cy="4121150"/>
            </a:xfrm>
            <a:custGeom>
              <a:avLst/>
              <a:gdLst/>
              <a:ahLst/>
              <a:cxnLst/>
              <a:rect l="l" t="t" r="r" b="b"/>
              <a:pathLst>
                <a:path w="8348980" h="4121150">
                  <a:moveTo>
                    <a:pt x="259689" y="3991483"/>
                  </a:moveTo>
                  <a:lnTo>
                    <a:pt x="249478" y="3941089"/>
                  </a:lnTo>
                  <a:lnTo>
                    <a:pt x="221691" y="3899903"/>
                  </a:lnTo>
                  <a:lnTo>
                    <a:pt x="180505" y="3872141"/>
                  </a:lnTo>
                  <a:lnTo>
                    <a:pt x="137045" y="3863340"/>
                  </a:lnTo>
                  <a:lnTo>
                    <a:pt x="130136" y="3861943"/>
                  </a:lnTo>
                  <a:lnTo>
                    <a:pt x="123190" y="3861943"/>
                  </a:lnTo>
                  <a:lnTo>
                    <a:pt x="116547" y="3862578"/>
                  </a:lnTo>
                  <a:lnTo>
                    <a:pt x="109893" y="3863340"/>
                  </a:lnTo>
                  <a:lnTo>
                    <a:pt x="114122" y="3857828"/>
                  </a:lnTo>
                  <a:lnTo>
                    <a:pt x="156375" y="3818953"/>
                  </a:lnTo>
                  <a:lnTo>
                    <a:pt x="222694" y="3791597"/>
                  </a:lnTo>
                  <a:lnTo>
                    <a:pt x="259118" y="3788029"/>
                  </a:lnTo>
                  <a:lnTo>
                    <a:pt x="259118" y="3713988"/>
                  </a:lnTo>
                  <a:lnTo>
                    <a:pt x="212521" y="3718166"/>
                  </a:lnTo>
                  <a:lnTo>
                    <a:pt x="168681" y="3730193"/>
                  </a:lnTo>
                  <a:lnTo>
                    <a:pt x="128308" y="3749357"/>
                  </a:lnTo>
                  <a:lnTo>
                    <a:pt x="92151" y="3774897"/>
                  </a:lnTo>
                  <a:lnTo>
                    <a:pt x="60921" y="3806113"/>
                  </a:lnTo>
                  <a:lnTo>
                    <a:pt x="35356" y="3842258"/>
                  </a:lnTo>
                  <a:lnTo>
                    <a:pt x="16205" y="3882593"/>
                  </a:lnTo>
                  <a:lnTo>
                    <a:pt x="4165" y="3926408"/>
                  </a:lnTo>
                  <a:lnTo>
                    <a:pt x="0" y="3972941"/>
                  </a:lnTo>
                  <a:lnTo>
                    <a:pt x="584" y="3991483"/>
                  </a:lnTo>
                  <a:lnTo>
                    <a:pt x="10769" y="4041825"/>
                  </a:lnTo>
                  <a:lnTo>
                    <a:pt x="38569" y="4082961"/>
                  </a:lnTo>
                  <a:lnTo>
                    <a:pt x="79756" y="4110723"/>
                  </a:lnTo>
                  <a:lnTo>
                    <a:pt x="130136" y="4120896"/>
                  </a:lnTo>
                  <a:lnTo>
                    <a:pt x="180505" y="4110723"/>
                  </a:lnTo>
                  <a:lnTo>
                    <a:pt x="221691" y="4082961"/>
                  </a:lnTo>
                  <a:lnTo>
                    <a:pt x="249478" y="4041825"/>
                  </a:lnTo>
                  <a:lnTo>
                    <a:pt x="259689" y="3991483"/>
                  </a:lnTo>
                  <a:close/>
                </a:path>
                <a:path w="8348980" h="4121150">
                  <a:moveTo>
                    <a:pt x="592836" y="3991483"/>
                  </a:moveTo>
                  <a:lnTo>
                    <a:pt x="582625" y="3941089"/>
                  </a:lnTo>
                  <a:lnTo>
                    <a:pt x="554837" y="3899903"/>
                  </a:lnTo>
                  <a:lnTo>
                    <a:pt x="513651" y="3872141"/>
                  </a:lnTo>
                  <a:lnTo>
                    <a:pt x="470192" y="3863340"/>
                  </a:lnTo>
                  <a:lnTo>
                    <a:pt x="463283" y="3861943"/>
                  </a:lnTo>
                  <a:lnTo>
                    <a:pt x="456336" y="3861943"/>
                  </a:lnTo>
                  <a:lnTo>
                    <a:pt x="449681" y="3862578"/>
                  </a:lnTo>
                  <a:lnTo>
                    <a:pt x="443039" y="3863340"/>
                  </a:lnTo>
                  <a:lnTo>
                    <a:pt x="447255" y="3857828"/>
                  </a:lnTo>
                  <a:lnTo>
                    <a:pt x="489521" y="3818953"/>
                  </a:lnTo>
                  <a:lnTo>
                    <a:pt x="555840" y="3791597"/>
                  </a:lnTo>
                  <a:lnTo>
                    <a:pt x="592251" y="3788029"/>
                  </a:lnTo>
                  <a:lnTo>
                    <a:pt x="592251" y="3713988"/>
                  </a:lnTo>
                  <a:lnTo>
                    <a:pt x="545655" y="3718166"/>
                  </a:lnTo>
                  <a:lnTo>
                    <a:pt x="501815" y="3730193"/>
                  </a:lnTo>
                  <a:lnTo>
                    <a:pt x="461454" y="3749357"/>
                  </a:lnTo>
                  <a:lnTo>
                    <a:pt x="425284" y="3774897"/>
                  </a:lnTo>
                  <a:lnTo>
                    <a:pt x="394068" y="3806113"/>
                  </a:lnTo>
                  <a:lnTo>
                    <a:pt x="368503" y="3842258"/>
                  </a:lnTo>
                  <a:lnTo>
                    <a:pt x="349351" y="3882593"/>
                  </a:lnTo>
                  <a:lnTo>
                    <a:pt x="337312" y="3926408"/>
                  </a:lnTo>
                  <a:lnTo>
                    <a:pt x="333146" y="3972941"/>
                  </a:lnTo>
                  <a:lnTo>
                    <a:pt x="333717" y="3991483"/>
                  </a:lnTo>
                  <a:lnTo>
                    <a:pt x="343916" y="4041825"/>
                  </a:lnTo>
                  <a:lnTo>
                    <a:pt x="371703" y="4082961"/>
                  </a:lnTo>
                  <a:lnTo>
                    <a:pt x="412889" y="4110723"/>
                  </a:lnTo>
                  <a:lnTo>
                    <a:pt x="463283" y="4120896"/>
                  </a:lnTo>
                  <a:lnTo>
                    <a:pt x="513651" y="4110723"/>
                  </a:lnTo>
                  <a:lnTo>
                    <a:pt x="554837" y="4082961"/>
                  </a:lnTo>
                  <a:lnTo>
                    <a:pt x="582625" y="4041825"/>
                  </a:lnTo>
                  <a:lnTo>
                    <a:pt x="592836" y="3991483"/>
                  </a:lnTo>
                  <a:close/>
                </a:path>
                <a:path w="8348980" h="4121150">
                  <a:moveTo>
                    <a:pt x="8015351" y="277495"/>
                  </a:moveTo>
                  <a:lnTo>
                    <a:pt x="8005140" y="227101"/>
                  </a:lnTo>
                  <a:lnTo>
                    <a:pt x="7977340" y="185915"/>
                  </a:lnTo>
                  <a:lnTo>
                    <a:pt x="7936154" y="158153"/>
                  </a:lnTo>
                  <a:lnTo>
                    <a:pt x="7892707" y="149352"/>
                  </a:lnTo>
                  <a:lnTo>
                    <a:pt x="7885811" y="147955"/>
                  </a:lnTo>
                  <a:lnTo>
                    <a:pt x="7878826" y="147955"/>
                  </a:lnTo>
                  <a:lnTo>
                    <a:pt x="7872222" y="148590"/>
                  </a:lnTo>
                  <a:lnTo>
                    <a:pt x="7865491" y="149352"/>
                  </a:lnTo>
                  <a:lnTo>
                    <a:pt x="7869758" y="143840"/>
                  </a:lnTo>
                  <a:lnTo>
                    <a:pt x="7912024" y="104965"/>
                  </a:lnTo>
                  <a:lnTo>
                    <a:pt x="7978318" y="77609"/>
                  </a:lnTo>
                  <a:lnTo>
                    <a:pt x="8014716" y="74041"/>
                  </a:lnTo>
                  <a:lnTo>
                    <a:pt x="8014716" y="0"/>
                  </a:lnTo>
                  <a:lnTo>
                    <a:pt x="7968132" y="4178"/>
                  </a:lnTo>
                  <a:lnTo>
                    <a:pt x="7924292" y="16205"/>
                  </a:lnTo>
                  <a:lnTo>
                    <a:pt x="7883931" y="35369"/>
                  </a:lnTo>
                  <a:lnTo>
                    <a:pt x="7847774" y="60909"/>
                  </a:lnTo>
                  <a:lnTo>
                    <a:pt x="7816545" y="92125"/>
                  </a:lnTo>
                  <a:lnTo>
                    <a:pt x="7790993" y="128270"/>
                  </a:lnTo>
                  <a:lnTo>
                    <a:pt x="7771828" y="168605"/>
                  </a:lnTo>
                  <a:lnTo>
                    <a:pt x="7759801" y="212420"/>
                  </a:lnTo>
                  <a:lnTo>
                    <a:pt x="7755636" y="258953"/>
                  </a:lnTo>
                  <a:lnTo>
                    <a:pt x="7756271" y="277495"/>
                  </a:lnTo>
                  <a:lnTo>
                    <a:pt x="7766456" y="327837"/>
                  </a:lnTo>
                  <a:lnTo>
                    <a:pt x="7794218" y="368973"/>
                  </a:lnTo>
                  <a:lnTo>
                    <a:pt x="7835405" y="396735"/>
                  </a:lnTo>
                  <a:lnTo>
                    <a:pt x="7885811" y="406908"/>
                  </a:lnTo>
                  <a:lnTo>
                    <a:pt x="7936154" y="396735"/>
                  </a:lnTo>
                  <a:lnTo>
                    <a:pt x="7977340" y="368973"/>
                  </a:lnTo>
                  <a:lnTo>
                    <a:pt x="8005140" y="327837"/>
                  </a:lnTo>
                  <a:lnTo>
                    <a:pt x="8015351" y="277495"/>
                  </a:lnTo>
                  <a:close/>
                </a:path>
                <a:path w="8348980" h="4121150">
                  <a:moveTo>
                    <a:pt x="8348472" y="277495"/>
                  </a:moveTo>
                  <a:lnTo>
                    <a:pt x="8338261" y="227101"/>
                  </a:lnTo>
                  <a:lnTo>
                    <a:pt x="8310461" y="185915"/>
                  </a:lnTo>
                  <a:lnTo>
                    <a:pt x="8269275" y="158153"/>
                  </a:lnTo>
                  <a:lnTo>
                    <a:pt x="8225828" y="149352"/>
                  </a:lnTo>
                  <a:lnTo>
                    <a:pt x="8218932" y="147955"/>
                  </a:lnTo>
                  <a:lnTo>
                    <a:pt x="8211947" y="147955"/>
                  </a:lnTo>
                  <a:lnTo>
                    <a:pt x="8205343" y="148590"/>
                  </a:lnTo>
                  <a:lnTo>
                    <a:pt x="8198612" y="149352"/>
                  </a:lnTo>
                  <a:lnTo>
                    <a:pt x="8202892" y="143840"/>
                  </a:lnTo>
                  <a:lnTo>
                    <a:pt x="8245145" y="104965"/>
                  </a:lnTo>
                  <a:lnTo>
                    <a:pt x="8311439" y="77609"/>
                  </a:lnTo>
                  <a:lnTo>
                    <a:pt x="8347837" y="74041"/>
                  </a:lnTo>
                  <a:lnTo>
                    <a:pt x="8347837" y="0"/>
                  </a:lnTo>
                  <a:lnTo>
                    <a:pt x="8301253" y="4178"/>
                  </a:lnTo>
                  <a:lnTo>
                    <a:pt x="8257413" y="16205"/>
                  </a:lnTo>
                  <a:lnTo>
                    <a:pt x="8217052" y="35369"/>
                  </a:lnTo>
                  <a:lnTo>
                    <a:pt x="8180895" y="60909"/>
                  </a:lnTo>
                  <a:lnTo>
                    <a:pt x="8149666" y="92125"/>
                  </a:lnTo>
                  <a:lnTo>
                    <a:pt x="8124114" y="128270"/>
                  </a:lnTo>
                  <a:lnTo>
                    <a:pt x="8104949" y="168605"/>
                  </a:lnTo>
                  <a:lnTo>
                    <a:pt x="8092922" y="212420"/>
                  </a:lnTo>
                  <a:lnTo>
                    <a:pt x="8088757" y="258953"/>
                  </a:lnTo>
                  <a:lnTo>
                    <a:pt x="8089392" y="277495"/>
                  </a:lnTo>
                  <a:lnTo>
                    <a:pt x="8099577" y="327837"/>
                  </a:lnTo>
                  <a:lnTo>
                    <a:pt x="8127339" y="368973"/>
                  </a:lnTo>
                  <a:lnTo>
                    <a:pt x="8168526" y="396735"/>
                  </a:lnTo>
                  <a:lnTo>
                    <a:pt x="8218932" y="406908"/>
                  </a:lnTo>
                  <a:lnTo>
                    <a:pt x="8269275" y="396735"/>
                  </a:lnTo>
                  <a:lnTo>
                    <a:pt x="8310461" y="368973"/>
                  </a:lnTo>
                  <a:lnTo>
                    <a:pt x="8338261" y="327837"/>
                  </a:lnTo>
                  <a:lnTo>
                    <a:pt x="8348472" y="277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6572" y="1014983"/>
              <a:ext cx="1224280" cy="0"/>
            </a:xfrm>
            <a:custGeom>
              <a:avLst/>
              <a:gdLst/>
              <a:ahLst/>
              <a:cxnLst/>
              <a:rect l="l" t="t" r="r" b="b"/>
              <a:pathLst>
                <a:path w="1224280">
                  <a:moveTo>
                    <a:pt x="0" y="0"/>
                  </a:moveTo>
                  <a:lnTo>
                    <a:pt x="1224153" y="0"/>
                  </a:lnTo>
                </a:path>
              </a:pathLst>
            </a:custGeom>
            <a:ln w="57912">
              <a:solidFill>
                <a:srgbClr val="FFA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30630" y="4477918"/>
            <a:ext cx="2575560" cy="190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company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now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path,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described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our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tagline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‘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Positioning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You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Profits!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’, to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offer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products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which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cover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entire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spectrum</a:t>
            </a:r>
            <a:r>
              <a:rPr sz="16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users.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621"/>
            <a:ext cx="12188952" cy="6858000"/>
            <a:chOff x="330835" y="139233"/>
            <a:chExt cx="12188952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835" y="139233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55904" y="1007363"/>
              <a:ext cx="1440180" cy="0"/>
            </a:xfrm>
            <a:custGeom>
              <a:avLst/>
              <a:gdLst/>
              <a:ahLst/>
              <a:cxnLst/>
              <a:rect l="l" t="t" r="r" b="b"/>
              <a:pathLst>
                <a:path w="1440180">
                  <a:moveTo>
                    <a:pt x="0" y="0"/>
                  </a:moveTo>
                  <a:lnTo>
                    <a:pt x="1440179" y="0"/>
                  </a:lnTo>
                </a:path>
              </a:pathLst>
            </a:custGeom>
            <a:ln w="57912">
              <a:solidFill>
                <a:srgbClr val="FBCD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b="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Services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192523" y="979932"/>
            <a:ext cx="7495540" cy="3439795"/>
            <a:chOff x="4192523" y="979932"/>
            <a:chExt cx="7495540" cy="3439795"/>
          </a:xfrm>
        </p:grpSpPr>
        <p:sp>
          <p:nvSpPr>
            <p:cNvPr id="7" name="object 7"/>
            <p:cNvSpPr/>
            <p:nvPr/>
          </p:nvSpPr>
          <p:spPr>
            <a:xfrm>
              <a:off x="11564111" y="3104388"/>
              <a:ext cx="121920" cy="250190"/>
            </a:xfrm>
            <a:custGeom>
              <a:avLst/>
              <a:gdLst/>
              <a:ahLst/>
              <a:cxnLst/>
              <a:rect l="l" t="t" r="r" b="b"/>
              <a:pathLst>
                <a:path w="121920" h="250189">
                  <a:moveTo>
                    <a:pt x="0" y="115824"/>
                  </a:moveTo>
                  <a:lnTo>
                    <a:pt x="0" y="118617"/>
                  </a:lnTo>
                  <a:lnTo>
                    <a:pt x="0" y="115824"/>
                  </a:lnTo>
                  <a:close/>
                </a:path>
                <a:path w="121920" h="250189">
                  <a:moveTo>
                    <a:pt x="19812" y="246887"/>
                  </a:moveTo>
                  <a:lnTo>
                    <a:pt x="17018" y="246887"/>
                  </a:lnTo>
                  <a:lnTo>
                    <a:pt x="17018" y="249682"/>
                  </a:lnTo>
                  <a:lnTo>
                    <a:pt x="17018" y="246887"/>
                  </a:lnTo>
                  <a:lnTo>
                    <a:pt x="19812" y="246887"/>
                  </a:lnTo>
                  <a:close/>
                </a:path>
                <a:path w="121920" h="250189">
                  <a:moveTo>
                    <a:pt x="121920" y="18034"/>
                  </a:moveTo>
                  <a:lnTo>
                    <a:pt x="121920" y="20827"/>
                  </a:lnTo>
                  <a:lnTo>
                    <a:pt x="121920" y="18034"/>
                  </a:lnTo>
                  <a:close/>
                </a:path>
                <a:path w="121920" h="250189">
                  <a:moveTo>
                    <a:pt x="97028" y="0"/>
                  </a:moveTo>
                  <a:lnTo>
                    <a:pt x="97028" y="1397"/>
                  </a:lnTo>
                  <a:lnTo>
                    <a:pt x="97028" y="0"/>
                  </a:lnTo>
                  <a:close/>
                </a:path>
              </a:pathLst>
            </a:custGeom>
            <a:ln w="3175">
              <a:solidFill>
                <a:srgbClr val="D96F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305031" y="271881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5" h="5714">
                  <a:moveTo>
                    <a:pt x="16764" y="2794"/>
                  </a:moveTo>
                  <a:lnTo>
                    <a:pt x="13970" y="2794"/>
                  </a:lnTo>
                  <a:lnTo>
                    <a:pt x="16764" y="5587"/>
                  </a:lnTo>
                  <a:lnTo>
                    <a:pt x="16764" y="2794"/>
                  </a:lnTo>
                  <a:close/>
                </a:path>
                <a:path w="17145" h="5714">
                  <a:moveTo>
                    <a:pt x="2794" y="0"/>
                  </a:moveTo>
                  <a:lnTo>
                    <a:pt x="0" y="0"/>
                  </a:lnTo>
                  <a:lnTo>
                    <a:pt x="2794" y="2794"/>
                  </a:lnTo>
                  <a:lnTo>
                    <a:pt x="5588" y="2794"/>
                  </a:lnTo>
                  <a:lnTo>
                    <a:pt x="2794" y="0"/>
                  </a:lnTo>
                  <a:close/>
                </a:path>
                <a:path w="17145" h="5714">
                  <a:moveTo>
                    <a:pt x="8382" y="0"/>
                  </a:moveTo>
                  <a:lnTo>
                    <a:pt x="5588" y="2794"/>
                  </a:lnTo>
                  <a:lnTo>
                    <a:pt x="8382" y="2794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56264" y="2713227"/>
              <a:ext cx="66040" cy="39370"/>
            </a:xfrm>
            <a:custGeom>
              <a:avLst/>
              <a:gdLst/>
              <a:ahLst/>
              <a:cxnLst/>
              <a:rect l="l" t="t" r="r" b="b"/>
              <a:pathLst>
                <a:path w="66040" h="39369">
                  <a:moveTo>
                    <a:pt x="22225" y="36322"/>
                  </a:moveTo>
                  <a:lnTo>
                    <a:pt x="22225" y="39116"/>
                  </a:lnTo>
                  <a:lnTo>
                    <a:pt x="22225" y="36322"/>
                  </a:lnTo>
                  <a:lnTo>
                    <a:pt x="25018" y="36322"/>
                  </a:lnTo>
                  <a:lnTo>
                    <a:pt x="25018" y="33527"/>
                  </a:lnTo>
                  <a:lnTo>
                    <a:pt x="25018" y="36322"/>
                  </a:lnTo>
                  <a:lnTo>
                    <a:pt x="22225" y="36322"/>
                  </a:lnTo>
                  <a:close/>
                </a:path>
                <a:path w="66040" h="39369">
                  <a:moveTo>
                    <a:pt x="62737" y="8382"/>
                  </a:moveTo>
                  <a:lnTo>
                    <a:pt x="65531" y="8382"/>
                  </a:lnTo>
                  <a:lnTo>
                    <a:pt x="65531" y="11175"/>
                  </a:lnTo>
                  <a:lnTo>
                    <a:pt x="62737" y="8382"/>
                  </a:lnTo>
                  <a:close/>
                </a:path>
                <a:path w="66040" h="39369">
                  <a:moveTo>
                    <a:pt x="51561" y="5587"/>
                  </a:moveTo>
                  <a:lnTo>
                    <a:pt x="48767" y="5587"/>
                  </a:lnTo>
                  <a:lnTo>
                    <a:pt x="51561" y="8382"/>
                  </a:lnTo>
                  <a:lnTo>
                    <a:pt x="54355" y="8382"/>
                  </a:lnTo>
                  <a:lnTo>
                    <a:pt x="57150" y="8382"/>
                  </a:lnTo>
                  <a:lnTo>
                    <a:pt x="57150" y="5587"/>
                  </a:lnTo>
                  <a:lnTo>
                    <a:pt x="54355" y="8382"/>
                  </a:lnTo>
                  <a:lnTo>
                    <a:pt x="51561" y="5587"/>
                  </a:lnTo>
                  <a:close/>
                </a:path>
                <a:path w="66040" h="39369">
                  <a:moveTo>
                    <a:pt x="0" y="0"/>
                  </a:moveTo>
                  <a:lnTo>
                    <a:pt x="0" y="2794"/>
                  </a:lnTo>
                  <a:lnTo>
                    <a:pt x="2793" y="2794"/>
                  </a:lnTo>
                  <a:lnTo>
                    <a:pt x="0" y="27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6F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2523" y="979932"/>
              <a:ext cx="7040626" cy="32781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7360" y="3198876"/>
              <a:ext cx="150622" cy="2225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318747" y="3426205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2794"/>
                  </a:moveTo>
                  <a:lnTo>
                    <a:pt x="0" y="0"/>
                  </a:lnTo>
                  <a:lnTo>
                    <a:pt x="0" y="2794"/>
                  </a:lnTo>
                  <a:close/>
                </a:path>
              </a:pathLst>
            </a:custGeom>
            <a:ln w="3175">
              <a:solidFill>
                <a:srgbClr val="D96F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98919" y="4413503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3048" y="0"/>
                  </a:moveTo>
                  <a:lnTo>
                    <a:pt x="0" y="2286"/>
                  </a:lnTo>
                  <a:lnTo>
                    <a:pt x="0" y="4572"/>
                  </a:lnTo>
                  <a:lnTo>
                    <a:pt x="3048" y="2286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98919" y="4413503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0" y="4572"/>
                  </a:moveTo>
                  <a:lnTo>
                    <a:pt x="3048" y="2286"/>
                  </a:lnTo>
                  <a:lnTo>
                    <a:pt x="3048" y="0"/>
                  </a:lnTo>
                  <a:lnTo>
                    <a:pt x="0" y="2286"/>
                  </a:lnTo>
                  <a:lnTo>
                    <a:pt x="0" y="4572"/>
                  </a:lnTo>
                  <a:close/>
                </a:path>
              </a:pathLst>
            </a:custGeom>
            <a:ln w="3175">
              <a:solidFill>
                <a:srgbClr val="D96F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98919" y="4413503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3048" y="0"/>
                  </a:moveTo>
                  <a:lnTo>
                    <a:pt x="0" y="2286"/>
                  </a:lnTo>
                  <a:lnTo>
                    <a:pt x="0" y="4572"/>
                  </a:lnTo>
                  <a:lnTo>
                    <a:pt x="3048" y="2286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98919" y="4413503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0" y="2286"/>
                  </a:moveTo>
                  <a:lnTo>
                    <a:pt x="0" y="4572"/>
                  </a:lnTo>
                  <a:lnTo>
                    <a:pt x="3048" y="2286"/>
                  </a:lnTo>
                  <a:lnTo>
                    <a:pt x="3048" y="0"/>
                  </a:lnTo>
                  <a:lnTo>
                    <a:pt x="0" y="2286"/>
                  </a:lnTo>
                  <a:close/>
                </a:path>
              </a:pathLst>
            </a:custGeom>
            <a:ln w="3175">
              <a:solidFill>
                <a:srgbClr val="D96F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584697" y="120865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63895" y="1892884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26734" y="2514422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01685" y="2704033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01508" y="1745996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91398" y="140893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17966" y="205143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49893" y="241985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97845" y="32943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55681" y="272567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09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9851" y="2992323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9532" y="2903839"/>
            <a:ext cx="2245360" cy="563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Run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TA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Apps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time,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machine,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subscription</a:t>
            </a:r>
            <a:r>
              <a:rPr sz="1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(Velocity)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9851" y="3815333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04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56969" y="3736435"/>
            <a:ext cx="2049145" cy="563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Various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types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Tick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streaming,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min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bar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streaming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9851" y="4637913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05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3706" y="4512591"/>
            <a:ext cx="2437183" cy="92942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8900"/>
              </a:lnSpc>
              <a:spcBef>
                <a:spcPts val="120"/>
              </a:spcBef>
            </a:pPr>
            <a:r>
              <a:rPr lang="en-US" sz="1200" dirty="0" err="1">
                <a:solidFill>
                  <a:srgbClr val="FFFFFF"/>
                </a:solidFill>
                <a:latin typeface="Arial MT"/>
                <a:cs typeface="Arial MT"/>
              </a:rPr>
              <a:t>TrueWealth</a:t>
            </a:r>
            <a:r>
              <a:rPr lang="en-US" sz="1200" dirty="0">
                <a:solidFill>
                  <a:srgbClr val="FFFFFF"/>
                </a:solidFill>
                <a:latin typeface="Arial MT"/>
                <a:cs typeface="Arial MT"/>
              </a:rPr>
              <a:t> provides RealTime Announcements, Financial Reports, Market Impact and much more for more insightful decisions of Investors.	</a:t>
            </a:r>
            <a:endParaRPr lang="en-US" sz="1200" dirty="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5904" y="5650925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06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14803" y="5545101"/>
            <a:ext cx="2436750" cy="5631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9300"/>
              </a:lnSpc>
              <a:spcBef>
                <a:spcPts val="114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Options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Decoder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Options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track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option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chain</a:t>
            </a:r>
            <a:r>
              <a:rPr sz="1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strategies</a:t>
            </a:r>
            <a:r>
              <a:rPr sz="1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85894" y="4637913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07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97102" y="4626188"/>
            <a:ext cx="2571115" cy="563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Partnered</a:t>
            </a:r>
            <a:r>
              <a:rPr sz="1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Fyers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provide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algo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traders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retail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clients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Fyers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85894" y="5558129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08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97102" y="5491803"/>
            <a:ext cx="2058035" cy="4489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TrueData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WebSocket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API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retail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algo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traders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31505" y="4637913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09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88654" y="4639436"/>
            <a:ext cx="2551430" cy="563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Historical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IEOD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Bid/Ask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option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CSV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NinjaTrader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format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31505" y="5558129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88654" y="5559348"/>
            <a:ext cx="1962150" cy="563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web-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charting,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Alerts,</a:t>
            </a:r>
            <a:r>
              <a:rPr sz="1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Trading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Solutions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(TrueData</a:t>
            </a:r>
            <a:r>
              <a:rPr sz="1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web)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9851" y="1347596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14803" y="1283633"/>
            <a:ext cx="1860550" cy="563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very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Low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latency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feeds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via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Direct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Exchange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9851" y="2170303"/>
            <a:ext cx="363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14803" y="2082783"/>
            <a:ext cx="2186940" cy="563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currently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NSE</a:t>
            </a:r>
            <a:r>
              <a:rPr lang="en-US" sz="1200" dirty="0">
                <a:solidFill>
                  <a:srgbClr val="FFFFFF"/>
                </a:solidFill>
                <a:latin typeface="Arial MT"/>
                <a:cs typeface="Arial MT"/>
              </a:rPr>
              <a:t> &amp; BSE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(Indices,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EQ,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F&amp;O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200" spc="-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MCX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1300" y="6391655"/>
            <a:ext cx="8241665" cy="0"/>
          </a:xfrm>
          <a:custGeom>
            <a:avLst/>
            <a:gdLst/>
            <a:ahLst/>
            <a:cxnLst/>
            <a:rect l="l" t="t" r="r" b="b"/>
            <a:pathLst>
              <a:path w="8241665">
                <a:moveTo>
                  <a:pt x="824153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5904" y="1007363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179" y="0"/>
                </a:lnTo>
              </a:path>
            </a:pathLst>
          </a:custGeom>
          <a:ln w="57912">
            <a:solidFill>
              <a:srgbClr val="FBCD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8819" y="322275"/>
            <a:ext cx="35185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494A69"/>
                </a:solidFill>
                <a:latin typeface="Arial MT"/>
                <a:cs typeface="Arial MT"/>
              </a:rPr>
              <a:t>Company</a:t>
            </a:r>
            <a:r>
              <a:rPr sz="3200" spc="-55" dirty="0">
                <a:solidFill>
                  <a:srgbClr val="494A69"/>
                </a:solidFill>
                <a:latin typeface="Arial MT"/>
                <a:cs typeface="Arial MT"/>
              </a:rPr>
              <a:t> </a:t>
            </a:r>
            <a:r>
              <a:rPr sz="3200" b="1" spc="-10" dirty="0">
                <a:solidFill>
                  <a:srgbClr val="FBCD58"/>
                </a:solidFill>
                <a:latin typeface="Arial"/>
                <a:cs typeface="Arial"/>
              </a:rPr>
              <a:t>Timeline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9210" y="6267399"/>
            <a:ext cx="920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888888"/>
                </a:solidFill>
                <a:latin typeface="Arial MT"/>
                <a:cs typeface="Arial MT"/>
              </a:rPr>
              <a:t>Truedata.in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3457" y="3103756"/>
            <a:ext cx="10686415" cy="2583180"/>
          </a:xfrm>
          <a:custGeom>
            <a:avLst/>
            <a:gdLst/>
            <a:ahLst/>
            <a:cxnLst/>
            <a:rect l="l" t="t" r="r" b="b"/>
            <a:pathLst>
              <a:path w="10686415" h="2583179">
                <a:moveTo>
                  <a:pt x="10686288" y="0"/>
                </a:moveTo>
                <a:lnTo>
                  <a:pt x="0" y="2450096"/>
                </a:lnTo>
                <a:lnTo>
                  <a:pt x="224154" y="2583179"/>
                </a:lnTo>
                <a:lnTo>
                  <a:pt x="247395" y="2583027"/>
                </a:lnTo>
                <a:lnTo>
                  <a:pt x="1068628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3511" y="5462145"/>
            <a:ext cx="692150" cy="311150"/>
          </a:xfrm>
          <a:custGeom>
            <a:avLst/>
            <a:gdLst/>
            <a:ahLst/>
            <a:cxnLst/>
            <a:rect l="l" t="t" r="r" b="b"/>
            <a:pathLst>
              <a:path w="692150" h="311150">
                <a:moveTo>
                  <a:pt x="345947" y="0"/>
                </a:moveTo>
                <a:lnTo>
                  <a:pt x="283764" y="2504"/>
                </a:lnTo>
                <a:lnTo>
                  <a:pt x="225236" y="9725"/>
                </a:lnTo>
                <a:lnTo>
                  <a:pt x="171342" y="21223"/>
                </a:lnTo>
                <a:lnTo>
                  <a:pt x="123059" y="36559"/>
                </a:lnTo>
                <a:lnTo>
                  <a:pt x="81363" y="55294"/>
                </a:lnTo>
                <a:lnTo>
                  <a:pt x="47232" y="76990"/>
                </a:lnTo>
                <a:lnTo>
                  <a:pt x="5573" y="127505"/>
                </a:lnTo>
                <a:lnTo>
                  <a:pt x="0" y="155448"/>
                </a:lnTo>
                <a:lnTo>
                  <a:pt x="5573" y="183390"/>
                </a:lnTo>
                <a:lnTo>
                  <a:pt x="47232" y="233905"/>
                </a:lnTo>
                <a:lnTo>
                  <a:pt x="81363" y="255601"/>
                </a:lnTo>
                <a:lnTo>
                  <a:pt x="123059" y="274336"/>
                </a:lnTo>
                <a:lnTo>
                  <a:pt x="171342" y="289672"/>
                </a:lnTo>
                <a:lnTo>
                  <a:pt x="225236" y="301170"/>
                </a:lnTo>
                <a:lnTo>
                  <a:pt x="283764" y="308391"/>
                </a:lnTo>
                <a:lnTo>
                  <a:pt x="345947" y="310896"/>
                </a:lnTo>
                <a:lnTo>
                  <a:pt x="408118" y="308391"/>
                </a:lnTo>
                <a:lnTo>
                  <a:pt x="466638" y="301170"/>
                </a:lnTo>
                <a:lnTo>
                  <a:pt x="520530" y="289672"/>
                </a:lnTo>
                <a:lnTo>
                  <a:pt x="568815" y="274336"/>
                </a:lnTo>
                <a:lnTo>
                  <a:pt x="610515" y="255601"/>
                </a:lnTo>
                <a:lnTo>
                  <a:pt x="644651" y="233905"/>
                </a:lnTo>
                <a:lnTo>
                  <a:pt x="686320" y="183390"/>
                </a:lnTo>
                <a:lnTo>
                  <a:pt x="691896" y="155448"/>
                </a:lnTo>
                <a:lnTo>
                  <a:pt x="686320" y="127505"/>
                </a:lnTo>
                <a:lnTo>
                  <a:pt x="644651" y="76990"/>
                </a:lnTo>
                <a:lnTo>
                  <a:pt x="610515" y="55294"/>
                </a:lnTo>
                <a:lnTo>
                  <a:pt x="568815" y="36559"/>
                </a:lnTo>
                <a:lnTo>
                  <a:pt x="520530" y="21223"/>
                </a:lnTo>
                <a:lnTo>
                  <a:pt x="466638" y="9725"/>
                </a:lnTo>
                <a:lnTo>
                  <a:pt x="408118" y="2504"/>
                </a:lnTo>
                <a:lnTo>
                  <a:pt x="3459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46211" y="4907409"/>
            <a:ext cx="634365" cy="285115"/>
          </a:xfrm>
          <a:custGeom>
            <a:avLst/>
            <a:gdLst/>
            <a:ahLst/>
            <a:cxnLst/>
            <a:rect l="l" t="t" r="r" b="b"/>
            <a:pathLst>
              <a:path w="634364" h="285114">
                <a:moveTo>
                  <a:pt x="316991" y="0"/>
                </a:moveTo>
                <a:lnTo>
                  <a:pt x="253088" y="2893"/>
                </a:lnTo>
                <a:lnTo>
                  <a:pt x="193577" y="11191"/>
                </a:lnTo>
                <a:lnTo>
                  <a:pt x="139731" y="24324"/>
                </a:lnTo>
                <a:lnTo>
                  <a:pt x="92821" y="41719"/>
                </a:lnTo>
                <a:lnTo>
                  <a:pt x="54120" y="62805"/>
                </a:lnTo>
                <a:lnTo>
                  <a:pt x="6437" y="113764"/>
                </a:lnTo>
                <a:lnTo>
                  <a:pt x="0" y="142494"/>
                </a:lnTo>
                <a:lnTo>
                  <a:pt x="6437" y="171223"/>
                </a:lnTo>
                <a:lnTo>
                  <a:pt x="54120" y="222182"/>
                </a:lnTo>
                <a:lnTo>
                  <a:pt x="92821" y="243268"/>
                </a:lnTo>
                <a:lnTo>
                  <a:pt x="139731" y="260663"/>
                </a:lnTo>
                <a:lnTo>
                  <a:pt x="193577" y="273796"/>
                </a:lnTo>
                <a:lnTo>
                  <a:pt x="253088" y="282094"/>
                </a:lnTo>
                <a:lnTo>
                  <a:pt x="316991" y="284988"/>
                </a:lnTo>
                <a:lnTo>
                  <a:pt x="380895" y="282094"/>
                </a:lnTo>
                <a:lnTo>
                  <a:pt x="440406" y="273796"/>
                </a:lnTo>
                <a:lnTo>
                  <a:pt x="494252" y="260663"/>
                </a:lnTo>
                <a:lnTo>
                  <a:pt x="541162" y="243268"/>
                </a:lnTo>
                <a:lnTo>
                  <a:pt x="579863" y="222182"/>
                </a:lnTo>
                <a:lnTo>
                  <a:pt x="627546" y="171223"/>
                </a:lnTo>
                <a:lnTo>
                  <a:pt x="633983" y="142494"/>
                </a:lnTo>
                <a:lnTo>
                  <a:pt x="627546" y="113764"/>
                </a:lnTo>
                <a:lnTo>
                  <a:pt x="579863" y="62805"/>
                </a:lnTo>
                <a:lnTo>
                  <a:pt x="541162" y="41719"/>
                </a:lnTo>
                <a:lnTo>
                  <a:pt x="494252" y="24324"/>
                </a:lnTo>
                <a:lnTo>
                  <a:pt x="440406" y="11191"/>
                </a:lnTo>
                <a:lnTo>
                  <a:pt x="380895" y="2893"/>
                </a:lnTo>
                <a:lnTo>
                  <a:pt x="3169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9843" y="4808031"/>
            <a:ext cx="634365" cy="285115"/>
          </a:xfrm>
          <a:custGeom>
            <a:avLst/>
            <a:gdLst/>
            <a:ahLst/>
            <a:cxnLst/>
            <a:rect l="l" t="t" r="r" b="b"/>
            <a:pathLst>
              <a:path w="634364" h="285114">
                <a:moveTo>
                  <a:pt x="0" y="142494"/>
                </a:moveTo>
                <a:lnTo>
                  <a:pt x="24901" y="87010"/>
                </a:lnTo>
                <a:lnTo>
                  <a:pt x="92821" y="41719"/>
                </a:lnTo>
                <a:lnTo>
                  <a:pt x="139731" y="24324"/>
                </a:lnTo>
                <a:lnTo>
                  <a:pt x="193577" y="11191"/>
                </a:lnTo>
                <a:lnTo>
                  <a:pt x="253088" y="2893"/>
                </a:lnTo>
                <a:lnTo>
                  <a:pt x="316991" y="0"/>
                </a:lnTo>
                <a:lnTo>
                  <a:pt x="380895" y="2893"/>
                </a:lnTo>
                <a:lnTo>
                  <a:pt x="440406" y="11191"/>
                </a:lnTo>
                <a:lnTo>
                  <a:pt x="494252" y="24324"/>
                </a:lnTo>
                <a:lnTo>
                  <a:pt x="541162" y="41719"/>
                </a:lnTo>
                <a:lnTo>
                  <a:pt x="579863" y="62805"/>
                </a:lnTo>
                <a:lnTo>
                  <a:pt x="627546" y="113764"/>
                </a:lnTo>
                <a:lnTo>
                  <a:pt x="633983" y="142494"/>
                </a:lnTo>
                <a:lnTo>
                  <a:pt x="627546" y="171223"/>
                </a:lnTo>
                <a:lnTo>
                  <a:pt x="579863" y="222182"/>
                </a:lnTo>
                <a:lnTo>
                  <a:pt x="541162" y="243268"/>
                </a:lnTo>
                <a:lnTo>
                  <a:pt x="494252" y="260663"/>
                </a:lnTo>
                <a:lnTo>
                  <a:pt x="440406" y="273796"/>
                </a:lnTo>
                <a:lnTo>
                  <a:pt x="380895" y="282094"/>
                </a:lnTo>
                <a:lnTo>
                  <a:pt x="316991" y="284988"/>
                </a:lnTo>
                <a:lnTo>
                  <a:pt x="253088" y="282094"/>
                </a:lnTo>
                <a:lnTo>
                  <a:pt x="193577" y="273796"/>
                </a:lnTo>
                <a:lnTo>
                  <a:pt x="139731" y="260663"/>
                </a:lnTo>
                <a:lnTo>
                  <a:pt x="92821" y="243268"/>
                </a:lnTo>
                <a:lnTo>
                  <a:pt x="54120" y="222182"/>
                </a:lnTo>
                <a:lnTo>
                  <a:pt x="6437" y="171223"/>
                </a:lnTo>
                <a:lnTo>
                  <a:pt x="0" y="142494"/>
                </a:lnTo>
                <a:close/>
              </a:path>
            </a:pathLst>
          </a:custGeom>
          <a:ln w="25908">
            <a:solidFill>
              <a:srgbClr val="9F5B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0086" y="4885065"/>
            <a:ext cx="224027" cy="14255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040998" y="4340481"/>
            <a:ext cx="521334" cy="233679"/>
          </a:xfrm>
          <a:custGeom>
            <a:avLst/>
            <a:gdLst/>
            <a:ahLst/>
            <a:cxnLst/>
            <a:rect l="l" t="t" r="r" b="b"/>
            <a:pathLst>
              <a:path w="521335" h="233679">
                <a:moveTo>
                  <a:pt x="260603" y="0"/>
                </a:moveTo>
                <a:lnTo>
                  <a:pt x="200861" y="3079"/>
                </a:lnTo>
                <a:lnTo>
                  <a:pt x="146012" y="11849"/>
                </a:lnTo>
                <a:lnTo>
                  <a:pt x="97624" y="25612"/>
                </a:lnTo>
                <a:lnTo>
                  <a:pt x="57263" y="43667"/>
                </a:lnTo>
                <a:lnTo>
                  <a:pt x="6884" y="89853"/>
                </a:lnTo>
                <a:lnTo>
                  <a:pt x="0" y="116586"/>
                </a:lnTo>
                <a:lnTo>
                  <a:pt x="6884" y="143318"/>
                </a:lnTo>
                <a:lnTo>
                  <a:pt x="57263" y="189504"/>
                </a:lnTo>
                <a:lnTo>
                  <a:pt x="97624" y="207559"/>
                </a:lnTo>
                <a:lnTo>
                  <a:pt x="146012" y="221322"/>
                </a:lnTo>
                <a:lnTo>
                  <a:pt x="200861" y="230092"/>
                </a:lnTo>
                <a:lnTo>
                  <a:pt x="260603" y="233171"/>
                </a:lnTo>
                <a:lnTo>
                  <a:pt x="320346" y="230092"/>
                </a:lnTo>
                <a:lnTo>
                  <a:pt x="375195" y="221322"/>
                </a:lnTo>
                <a:lnTo>
                  <a:pt x="423583" y="207559"/>
                </a:lnTo>
                <a:lnTo>
                  <a:pt x="463944" y="189504"/>
                </a:lnTo>
                <a:lnTo>
                  <a:pt x="514323" y="143318"/>
                </a:lnTo>
                <a:lnTo>
                  <a:pt x="521207" y="116586"/>
                </a:lnTo>
                <a:lnTo>
                  <a:pt x="514323" y="89853"/>
                </a:lnTo>
                <a:lnTo>
                  <a:pt x="463944" y="43667"/>
                </a:lnTo>
                <a:lnTo>
                  <a:pt x="423583" y="25612"/>
                </a:lnTo>
                <a:lnTo>
                  <a:pt x="375195" y="11849"/>
                </a:lnTo>
                <a:lnTo>
                  <a:pt x="320346" y="3079"/>
                </a:lnTo>
                <a:lnTo>
                  <a:pt x="2606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32029" y="4317240"/>
            <a:ext cx="521334" cy="233679"/>
          </a:xfrm>
          <a:custGeom>
            <a:avLst/>
            <a:gdLst/>
            <a:ahLst/>
            <a:cxnLst/>
            <a:rect l="l" t="t" r="r" b="b"/>
            <a:pathLst>
              <a:path w="521335" h="233679">
                <a:moveTo>
                  <a:pt x="0" y="116586"/>
                </a:moveTo>
                <a:lnTo>
                  <a:pt x="26494" y="65314"/>
                </a:lnTo>
                <a:lnTo>
                  <a:pt x="97624" y="25612"/>
                </a:lnTo>
                <a:lnTo>
                  <a:pt x="146012" y="11849"/>
                </a:lnTo>
                <a:lnTo>
                  <a:pt x="200861" y="3079"/>
                </a:lnTo>
                <a:lnTo>
                  <a:pt x="260603" y="0"/>
                </a:lnTo>
                <a:lnTo>
                  <a:pt x="320346" y="3079"/>
                </a:lnTo>
                <a:lnTo>
                  <a:pt x="375195" y="11849"/>
                </a:lnTo>
                <a:lnTo>
                  <a:pt x="423583" y="25612"/>
                </a:lnTo>
                <a:lnTo>
                  <a:pt x="463944" y="43667"/>
                </a:lnTo>
                <a:lnTo>
                  <a:pt x="514323" y="89853"/>
                </a:lnTo>
                <a:lnTo>
                  <a:pt x="521207" y="116586"/>
                </a:lnTo>
                <a:lnTo>
                  <a:pt x="514323" y="143318"/>
                </a:lnTo>
                <a:lnTo>
                  <a:pt x="463944" y="189504"/>
                </a:lnTo>
                <a:lnTo>
                  <a:pt x="423583" y="207559"/>
                </a:lnTo>
                <a:lnTo>
                  <a:pt x="375195" y="221322"/>
                </a:lnTo>
                <a:lnTo>
                  <a:pt x="320346" y="230092"/>
                </a:lnTo>
                <a:lnTo>
                  <a:pt x="260603" y="233171"/>
                </a:lnTo>
                <a:lnTo>
                  <a:pt x="200861" y="230092"/>
                </a:lnTo>
                <a:lnTo>
                  <a:pt x="146012" y="221322"/>
                </a:lnTo>
                <a:lnTo>
                  <a:pt x="97624" y="207559"/>
                </a:lnTo>
                <a:lnTo>
                  <a:pt x="57263" y="189504"/>
                </a:lnTo>
                <a:lnTo>
                  <a:pt x="6884" y="143318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D96F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9837" y="4386468"/>
            <a:ext cx="184403" cy="8381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9862431" y="3815590"/>
            <a:ext cx="439420" cy="196850"/>
          </a:xfrm>
          <a:custGeom>
            <a:avLst/>
            <a:gdLst/>
            <a:ahLst/>
            <a:cxnLst/>
            <a:rect l="l" t="t" r="r" b="b"/>
            <a:pathLst>
              <a:path w="439420" h="196850">
                <a:moveTo>
                  <a:pt x="219456" y="0"/>
                </a:moveTo>
                <a:lnTo>
                  <a:pt x="161131" y="3515"/>
                </a:lnTo>
                <a:lnTo>
                  <a:pt x="108711" y="13433"/>
                </a:lnTo>
                <a:lnTo>
                  <a:pt x="64293" y="28813"/>
                </a:lnTo>
                <a:lnTo>
                  <a:pt x="29971" y="48711"/>
                </a:lnTo>
                <a:lnTo>
                  <a:pt x="0" y="98298"/>
                </a:lnTo>
                <a:lnTo>
                  <a:pt x="7842" y="124408"/>
                </a:lnTo>
                <a:lnTo>
                  <a:pt x="64293" y="167782"/>
                </a:lnTo>
                <a:lnTo>
                  <a:pt x="108711" y="183162"/>
                </a:lnTo>
                <a:lnTo>
                  <a:pt x="161131" y="193080"/>
                </a:lnTo>
                <a:lnTo>
                  <a:pt x="219456" y="196595"/>
                </a:lnTo>
                <a:lnTo>
                  <a:pt x="277780" y="193080"/>
                </a:lnTo>
                <a:lnTo>
                  <a:pt x="330200" y="183162"/>
                </a:lnTo>
                <a:lnTo>
                  <a:pt x="374618" y="167782"/>
                </a:lnTo>
                <a:lnTo>
                  <a:pt x="408940" y="147884"/>
                </a:lnTo>
                <a:lnTo>
                  <a:pt x="438912" y="98298"/>
                </a:lnTo>
                <a:lnTo>
                  <a:pt x="431069" y="72187"/>
                </a:lnTo>
                <a:lnTo>
                  <a:pt x="374618" y="28813"/>
                </a:lnTo>
                <a:lnTo>
                  <a:pt x="330200" y="13433"/>
                </a:lnTo>
                <a:lnTo>
                  <a:pt x="277780" y="3515"/>
                </a:lnTo>
                <a:lnTo>
                  <a:pt x="2194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838757" y="3815590"/>
            <a:ext cx="439420" cy="196850"/>
          </a:xfrm>
          <a:custGeom>
            <a:avLst/>
            <a:gdLst/>
            <a:ahLst/>
            <a:cxnLst/>
            <a:rect l="l" t="t" r="r" b="b"/>
            <a:pathLst>
              <a:path w="439420" h="196850">
                <a:moveTo>
                  <a:pt x="0" y="98298"/>
                </a:moveTo>
                <a:lnTo>
                  <a:pt x="29971" y="48711"/>
                </a:lnTo>
                <a:lnTo>
                  <a:pt x="64293" y="28813"/>
                </a:lnTo>
                <a:lnTo>
                  <a:pt x="108711" y="13433"/>
                </a:lnTo>
                <a:lnTo>
                  <a:pt x="161131" y="3515"/>
                </a:lnTo>
                <a:lnTo>
                  <a:pt x="219456" y="0"/>
                </a:lnTo>
                <a:lnTo>
                  <a:pt x="277780" y="3515"/>
                </a:lnTo>
                <a:lnTo>
                  <a:pt x="330200" y="13433"/>
                </a:lnTo>
                <a:lnTo>
                  <a:pt x="374618" y="28813"/>
                </a:lnTo>
                <a:lnTo>
                  <a:pt x="408939" y="48711"/>
                </a:lnTo>
                <a:lnTo>
                  <a:pt x="438912" y="98298"/>
                </a:lnTo>
                <a:lnTo>
                  <a:pt x="431069" y="124408"/>
                </a:lnTo>
                <a:lnTo>
                  <a:pt x="374618" y="167782"/>
                </a:lnTo>
                <a:lnTo>
                  <a:pt x="330200" y="183162"/>
                </a:lnTo>
                <a:lnTo>
                  <a:pt x="277780" y="193080"/>
                </a:lnTo>
                <a:lnTo>
                  <a:pt x="219456" y="196595"/>
                </a:lnTo>
                <a:lnTo>
                  <a:pt x="161131" y="193080"/>
                </a:lnTo>
                <a:lnTo>
                  <a:pt x="108711" y="183162"/>
                </a:lnTo>
                <a:lnTo>
                  <a:pt x="64293" y="167782"/>
                </a:lnTo>
                <a:lnTo>
                  <a:pt x="29971" y="147884"/>
                </a:lnTo>
                <a:lnTo>
                  <a:pt x="0" y="98298"/>
                </a:lnTo>
                <a:close/>
              </a:path>
            </a:pathLst>
          </a:custGeom>
          <a:ln w="25907">
            <a:solidFill>
              <a:srgbClr val="FFA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2830" y="3878962"/>
            <a:ext cx="155448" cy="7010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077DF59-252F-D0CF-8B95-D790190F2FC1}"/>
              </a:ext>
            </a:extLst>
          </p:cNvPr>
          <p:cNvGrpSpPr/>
          <p:nvPr/>
        </p:nvGrpSpPr>
        <p:grpSpPr>
          <a:xfrm>
            <a:off x="2421345" y="1286385"/>
            <a:ext cx="629227" cy="4486910"/>
            <a:chOff x="1993511" y="1286385"/>
            <a:chExt cx="692150" cy="4486910"/>
          </a:xfrm>
        </p:grpSpPr>
        <p:sp>
          <p:nvSpPr>
            <p:cNvPr id="9" name="object 9"/>
            <p:cNvSpPr/>
            <p:nvPr/>
          </p:nvSpPr>
          <p:spPr>
            <a:xfrm>
              <a:off x="1993511" y="5462145"/>
              <a:ext cx="692150" cy="311150"/>
            </a:xfrm>
            <a:custGeom>
              <a:avLst/>
              <a:gdLst/>
              <a:ahLst/>
              <a:cxnLst/>
              <a:rect l="l" t="t" r="r" b="b"/>
              <a:pathLst>
                <a:path w="692150" h="311150">
                  <a:moveTo>
                    <a:pt x="0" y="155448"/>
                  </a:moveTo>
                  <a:lnTo>
                    <a:pt x="21643" y="101206"/>
                  </a:lnTo>
                  <a:lnTo>
                    <a:pt x="81363" y="55294"/>
                  </a:lnTo>
                  <a:lnTo>
                    <a:pt x="123059" y="36559"/>
                  </a:lnTo>
                  <a:lnTo>
                    <a:pt x="171342" y="21223"/>
                  </a:lnTo>
                  <a:lnTo>
                    <a:pt x="225236" y="9725"/>
                  </a:lnTo>
                  <a:lnTo>
                    <a:pt x="283764" y="2504"/>
                  </a:lnTo>
                  <a:lnTo>
                    <a:pt x="345947" y="0"/>
                  </a:lnTo>
                  <a:lnTo>
                    <a:pt x="408118" y="2504"/>
                  </a:lnTo>
                  <a:lnTo>
                    <a:pt x="466638" y="9725"/>
                  </a:lnTo>
                  <a:lnTo>
                    <a:pt x="520530" y="21223"/>
                  </a:lnTo>
                  <a:lnTo>
                    <a:pt x="568815" y="36559"/>
                  </a:lnTo>
                  <a:lnTo>
                    <a:pt x="610515" y="55294"/>
                  </a:lnTo>
                  <a:lnTo>
                    <a:pt x="644651" y="76990"/>
                  </a:lnTo>
                  <a:lnTo>
                    <a:pt x="686320" y="127505"/>
                  </a:lnTo>
                  <a:lnTo>
                    <a:pt x="691896" y="155448"/>
                  </a:lnTo>
                  <a:lnTo>
                    <a:pt x="686320" y="183390"/>
                  </a:lnTo>
                  <a:lnTo>
                    <a:pt x="644651" y="233905"/>
                  </a:lnTo>
                  <a:lnTo>
                    <a:pt x="610515" y="255601"/>
                  </a:lnTo>
                  <a:lnTo>
                    <a:pt x="568815" y="274336"/>
                  </a:lnTo>
                  <a:lnTo>
                    <a:pt x="520530" y="289672"/>
                  </a:lnTo>
                  <a:lnTo>
                    <a:pt x="466638" y="301170"/>
                  </a:lnTo>
                  <a:lnTo>
                    <a:pt x="408118" y="308391"/>
                  </a:lnTo>
                  <a:lnTo>
                    <a:pt x="345947" y="310896"/>
                  </a:lnTo>
                  <a:lnTo>
                    <a:pt x="283764" y="308391"/>
                  </a:lnTo>
                  <a:lnTo>
                    <a:pt x="225236" y="301170"/>
                  </a:lnTo>
                  <a:lnTo>
                    <a:pt x="171342" y="289672"/>
                  </a:lnTo>
                  <a:lnTo>
                    <a:pt x="123059" y="274336"/>
                  </a:lnTo>
                  <a:lnTo>
                    <a:pt x="81363" y="255601"/>
                  </a:lnTo>
                  <a:lnTo>
                    <a:pt x="47232" y="233905"/>
                  </a:lnTo>
                  <a:lnTo>
                    <a:pt x="5573" y="183390"/>
                  </a:lnTo>
                  <a:lnTo>
                    <a:pt x="0" y="155448"/>
                  </a:lnTo>
                  <a:close/>
                </a:path>
              </a:pathLst>
            </a:custGeom>
            <a:ln w="25907">
              <a:solidFill>
                <a:srgbClr val="494A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6777" y="5560444"/>
              <a:ext cx="243840" cy="10972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48146" y="1286385"/>
              <a:ext cx="0" cy="4323080"/>
            </a:xfrm>
            <a:custGeom>
              <a:avLst/>
              <a:gdLst/>
              <a:ahLst/>
              <a:cxnLst/>
              <a:rect l="l" t="t" r="r" b="b"/>
              <a:pathLst>
                <a:path h="4323080">
                  <a:moveTo>
                    <a:pt x="0" y="0"/>
                  </a:moveTo>
                  <a:lnTo>
                    <a:pt x="0" y="4322673"/>
                  </a:lnTo>
                </a:path>
              </a:pathLst>
            </a:custGeom>
            <a:ln w="19812">
              <a:solidFill>
                <a:srgbClr val="494A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5266678" y="1284957"/>
            <a:ext cx="0" cy="3724910"/>
          </a:xfrm>
          <a:custGeom>
            <a:avLst/>
            <a:gdLst/>
            <a:ahLst/>
            <a:cxnLst/>
            <a:rect l="l" t="t" r="r" b="b"/>
            <a:pathLst>
              <a:path h="3724910">
                <a:moveTo>
                  <a:pt x="0" y="0"/>
                </a:moveTo>
                <a:lnTo>
                  <a:pt x="0" y="3724655"/>
                </a:lnTo>
              </a:path>
            </a:pathLst>
          </a:custGeom>
          <a:ln w="19812">
            <a:solidFill>
              <a:srgbClr val="9F5B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95615" y="1269056"/>
            <a:ext cx="0" cy="3147695"/>
          </a:xfrm>
          <a:custGeom>
            <a:avLst/>
            <a:gdLst/>
            <a:ahLst/>
            <a:cxnLst/>
            <a:rect l="l" t="t" r="r" b="b"/>
            <a:pathLst>
              <a:path h="3147695">
                <a:moveTo>
                  <a:pt x="0" y="0"/>
                </a:moveTo>
                <a:lnTo>
                  <a:pt x="0" y="3147441"/>
                </a:lnTo>
              </a:path>
            </a:pathLst>
          </a:custGeom>
          <a:ln w="19812">
            <a:solidFill>
              <a:srgbClr val="D96F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058467" y="1364616"/>
            <a:ext cx="0" cy="2584450"/>
          </a:xfrm>
          <a:custGeom>
            <a:avLst/>
            <a:gdLst/>
            <a:ahLst/>
            <a:cxnLst/>
            <a:rect l="l" t="t" r="r" b="b"/>
            <a:pathLst>
              <a:path h="2584450">
                <a:moveTo>
                  <a:pt x="0" y="0"/>
                </a:moveTo>
                <a:lnTo>
                  <a:pt x="0" y="2584196"/>
                </a:lnTo>
              </a:path>
            </a:pathLst>
          </a:custGeom>
          <a:ln w="19812">
            <a:solidFill>
              <a:srgbClr val="FFA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869820" y="1284957"/>
            <a:ext cx="10439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20" dirty="0">
                <a:solidFill>
                  <a:srgbClr val="494A69"/>
                </a:solidFill>
                <a:latin typeface="Arial MT"/>
                <a:cs typeface="Arial MT"/>
              </a:rPr>
              <a:t>2020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87610" y="1161168"/>
            <a:ext cx="1818005" cy="1303306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500"/>
              </a:spcBef>
            </a:pPr>
            <a:r>
              <a:rPr spc="-20" dirty="0">
                <a:solidFill>
                  <a:srgbClr val="9F5B71"/>
                </a:solidFill>
                <a:latin typeface="Arial MT"/>
                <a:cs typeface="Arial MT"/>
              </a:rPr>
              <a:t>2018</a:t>
            </a:r>
            <a:endParaRPr dirty="0">
              <a:latin typeface="Arial MT"/>
              <a:cs typeface="Arial MT"/>
            </a:endParaRPr>
          </a:p>
          <a:p>
            <a:pPr marL="12700" marR="5080">
              <a:lnSpc>
                <a:spcPct val="98800"/>
              </a:lnSpc>
              <a:spcBef>
                <a:spcPts val="810"/>
              </a:spcBef>
            </a:pPr>
            <a:r>
              <a:rPr sz="1600" b="1" spc="-10" dirty="0">
                <a:solidFill>
                  <a:srgbClr val="9F5B71"/>
                </a:solidFill>
                <a:latin typeface="Arial"/>
                <a:cs typeface="Arial"/>
              </a:rPr>
              <a:t>Became authorized </a:t>
            </a:r>
            <a:r>
              <a:rPr sz="1600" b="1" dirty="0">
                <a:solidFill>
                  <a:srgbClr val="9F5B71"/>
                </a:solidFill>
                <a:latin typeface="Arial"/>
                <a:cs typeface="Arial"/>
              </a:rPr>
              <a:t>vendor</a:t>
            </a:r>
            <a:r>
              <a:rPr sz="1600" b="1" spc="-10" dirty="0">
                <a:solidFill>
                  <a:srgbClr val="9F5B7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F5B71"/>
                </a:solidFill>
                <a:latin typeface="Arial"/>
                <a:cs typeface="Arial"/>
              </a:rPr>
              <a:t>of</a:t>
            </a:r>
            <a:r>
              <a:rPr sz="1600" b="1" spc="-25" dirty="0">
                <a:solidFill>
                  <a:srgbClr val="9F5B71"/>
                </a:solidFill>
                <a:latin typeface="Arial"/>
                <a:cs typeface="Arial"/>
              </a:rPr>
              <a:t> MCX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246233" y="1069987"/>
            <a:ext cx="1503425" cy="2509148"/>
          </a:xfrm>
          <a:prstGeom prst="rect">
            <a:avLst/>
          </a:prstGeom>
        </p:spPr>
        <p:txBody>
          <a:bodyPr vert="horz" wrap="square" lIns="0" tIns="321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30"/>
              </a:spcBef>
            </a:pPr>
            <a:r>
              <a:rPr spc="-30" dirty="0">
                <a:solidFill>
                  <a:srgbClr val="FFA85B"/>
                </a:solidFill>
                <a:latin typeface="Arial MT"/>
                <a:cs typeface="Arial MT"/>
              </a:rPr>
              <a:t>2014-</a:t>
            </a:r>
            <a:r>
              <a:rPr spc="-25" dirty="0">
                <a:solidFill>
                  <a:srgbClr val="FFA85B"/>
                </a:solidFill>
                <a:latin typeface="Arial MT"/>
                <a:cs typeface="Arial MT"/>
              </a:rPr>
              <a:t>15</a:t>
            </a:r>
            <a:endParaRPr dirty="0">
              <a:latin typeface="Arial MT"/>
              <a:cs typeface="Arial MT"/>
            </a:endParaRPr>
          </a:p>
          <a:p>
            <a:pPr marL="34925" marR="295275">
              <a:lnSpc>
                <a:spcPts val="2340"/>
              </a:lnSpc>
              <a:spcBef>
                <a:spcPts val="1355"/>
              </a:spcBef>
            </a:pPr>
            <a:r>
              <a:rPr sz="1400" b="1" spc="-10" dirty="0">
                <a:solidFill>
                  <a:srgbClr val="FFA85B"/>
                </a:solidFill>
                <a:latin typeface="Arial"/>
                <a:cs typeface="Arial"/>
              </a:rPr>
              <a:t>TrueData™ </a:t>
            </a:r>
            <a:r>
              <a:rPr sz="1400" b="1" dirty="0">
                <a:solidFill>
                  <a:srgbClr val="FFA85B"/>
                </a:solidFill>
                <a:latin typeface="Arial"/>
                <a:cs typeface="Arial"/>
              </a:rPr>
              <a:t>was</a:t>
            </a:r>
            <a:r>
              <a:rPr sz="1400" b="1" spc="-30" dirty="0">
                <a:solidFill>
                  <a:srgbClr val="FFA85B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A85B"/>
                </a:solidFill>
                <a:latin typeface="Arial"/>
                <a:cs typeface="Arial"/>
              </a:rPr>
              <a:t>founded</a:t>
            </a:r>
            <a:endParaRPr sz="1400" dirty="0">
              <a:latin typeface="Arial"/>
              <a:cs typeface="Arial"/>
            </a:endParaRPr>
          </a:p>
          <a:p>
            <a:pPr marL="34925" marR="5080">
              <a:lnSpc>
                <a:spcPct val="89600"/>
              </a:lnSpc>
              <a:spcBef>
                <a:spcPts val="1060"/>
              </a:spcBef>
            </a:pP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TrueData™</a:t>
            </a:r>
            <a:r>
              <a:rPr sz="12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became</a:t>
            </a:r>
            <a:r>
              <a:rPr sz="1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an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authorized</a:t>
            </a:r>
            <a:r>
              <a:rPr sz="12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vendor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NSE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EQ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&amp;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FO.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Launched</a:t>
            </a:r>
            <a:r>
              <a:rPr sz="12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first</a:t>
            </a:r>
            <a:r>
              <a:rPr sz="1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version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Flag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ship</a:t>
            </a:r>
            <a:r>
              <a:rPr sz="1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Product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Velocity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v</a:t>
            </a:r>
            <a:r>
              <a:rPr sz="1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1.0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86107" y="2137587"/>
            <a:ext cx="1889760" cy="174815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2340"/>
              </a:lnSpc>
              <a:spcBef>
                <a:spcPts val="229"/>
              </a:spcBef>
            </a:pPr>
            <a:r>
              <a:rPr sz="1400" b="1" spc="-10" dirty="0">
                <a:solidFill>
                  <a:srgbClr val="494A69"/>
                </a:solidFill>
                <a:latin typeface="Arial"/>
                <a:cs typeface="Arial"/>
              </a:rPr>
              <a:t>Launched </a:t>
            </a:r>
            <a:r>
              <a:rPr sz="1400" b="1" dirty="0">
                <a:solidFill>
                  <a:srgbClr val="494A69"/>
                </a:solidFill>
                <a:latin typeface="Arial"/>
                <a:cs typeface="Arial"/>
              </a:rPr>
              <a:t>WebSocket</a:t>
            </a:r>
            <a:r>
              <a:rPr sz="1400" b="1" spc="-25" dirty="0">
                <a:solidFill>
                  <a:srgbClr val="494A69"/>
                </a:solidFill>
                <a:latin typeface="Arial"/>
                <a:cs typeface="Arial"/>
              </a:rPr>
              <a:t> API</a:t>
            </a:r>
            <a:endParaRPr sz="1400" dirty="0">
              <a:latin typeface="Arial"/>
              <a:cs typeface="Arial"/>
            </a:endParaRPr>
          </a:p>
          <a:p>
            <a:pPr marL="12700" marR="129539">
              <a:lnSpc>
                <a:spcPts val="1480"/>
              </a:lnSpc>
              <a:spcBef>
                <a:spcPts val="150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Launched</a:t>
            </a:r>
            <a:r>
              <a:rPr sz="1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WebSocket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API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Services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ts val="1580"/>
              </a:lnSpc>
              <a:spcBef>
                <a:spcPts val="1135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Launched</a:t>
            </a:r>
            <a:r>
              <a:rPr sz="14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Options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ts val="1580"/>
              </a:lnSpc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Decoder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Services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76478" y="3920936"/>
            <a:ext cx="1850389" cy="141287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250825">
              <a:lnSpc>
                <a:spcPts val="1480"/>
              </a:lnSpc>
              <a:spcBef>
                <a:spcPts val="32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Became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authorized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vendor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NSE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CDS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 dirty="0">
              <a:latin typeface="Arial MT"/>
              <a:cs typeface="Arial MT"/>
            </a:endParaRPr>
          </a:p>
          <a:p>
            <a:pPr marL="23495" marR="5080">
              <a:lnSpc>
                <a:spcPct val="89300"/>
              </a:lnSpc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Adjudged</a:t>
            </a:r>
            <a:r>
              <a:rPr sz="1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14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Best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Authorized</a:t>
            </a:r>
            <a:r>
              <a:rPr sz="1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Data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Vendor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during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4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Algo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Convention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28899" y="1133700"/>
            <a:ext cx="1550745" cy="2135200"/>
          </a:xfrm>
          <a:prstGeom prst="rect">
            <a:avLst/>
          </a:prstGeom>
        </p:spPr>
        <p:txBody>
          <a:bodyPr vert="horz" wrap="square" lIns="0" tIns="280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spc="-10" dirty="0">
                <a:solidFill>
                  <a:srgbClr val="D96F7A"/>
                </a:solidFill>
                <a:latin typeface="Arial MT"/>
                <a:cs typeface="Arial MT"/>
              </a:rPr>
              <a:t>2016-</a:t>
            </a:r>
            <a:r>
              <a:rPr spc="-25" dirty="0">
                <a:solidFill>
                  <a:srgbClr val="D96F7A"/>
                </a:solidFill>
                <a:latin typeface="Arial MT"/>
                <a:cs typeface="Arial MT"/>
              </a:rPr>
              <a:t>17</a:t>
            </a:r>
            <a:endParaRPr dirty="0">
              <a:latin typeface="Arial MT"/>
              <a:cs typeface="Arial MT"/>
            </a:endParaRPr>
          </a:p>
          <a:p>
            <a:pPr marL="38735">
              <a:lnSpc>
                <a:spcPts val="2370"/>
              </a:lnSpc>
              <a:spcBef>
                <a:spcPts val="1180"/>
              </a:spcBef>
            </a:pPr>
            <a:r>
              <a:rPr b="1" spc="-10" dirty="0">
                <a:solidFill>
                  <a:srgbClr val="D96F7A"/>
                </a:solidFill>
                <a:latin typeface="Arial"/>
                <a:cs typeface="Arial"/>
              </a:rPr>
              <a:t>Launched</a:t>
            </a:r>
            <a:endParaRPr dirty="0">
              <a:latin typeface="Arial"/>
              <a:cs typeface="Arial"/>
            </a:endParaRPr>
          </a:p>
          <a:p>
            <a:pPr marL="38735">
              <a:lnSpc>
                <a:spcPts val="2370"/>
              </a:lnSpc>
            </a:pPr>
            <a:r>
              <a:rPr b="1" dirty="0">
                <a:solidFill>
                  <a:srgbClr val="D96F7A"/>
                </a:solidFill>
                <a:latin typeface="Arial"/>
                <a:cs typeface="Arial"/>
              </a:rPr>
              <a:t>Velocity</a:t>
            </a:r>
            <a:r>
              <a:rPr b="1" spc="-20" dirty="0">
                <a:solidFill>
                  <a:srgbClr val="D96F7A"/>
                </a:solidFill>
                <a:latin typeface="Arial"/>
                <a:cs typeface="Arial"/>
              </a:rPr>
              <a:t> </a:t>
            </a:r>
            <a:r>
              <a:rPr lang="en-US" b="1" spc="-20" dirty="0">
                <a:solidFill>
                  <a:srgbClr val="D96F7A"/>
                </a:solidFill>
                <a:latin typeface="Arial"/>
                <a:cs typeface="Arial"/>
              </a:rPr>
              <a:t>v</a:t>
            </a:r>
            <a:r>
              <a:rPr b="1" spc="-25" dirty="0">
                <a:solidFill>
                  <a:srgbClr val="D96F7A"/>
                </a:solidFill>
                <a:latin typeface="Arial"/>
                <a:cs typeface="Arial"/>
              </a:rPr>
              <a:t>2.0</a:t>
            </a:r>
            <a:endParaRPr dirty="0">
              <a:latin typeface="Arial"/>
              <a:cs typeface="Arial"/>
            </a:endParaRPr>
          </a:p>
          <a:p>
            <a:pPr marL="12700" marR="8255">
              <a:lnSpc>
                <a:spcPct val="88900"/>
              </a:lnSpc>
              <a:spcBef>
                <a:spcPts val="177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Launched</a:t>
            </a:r>
            <a:r>
              <a:rPr sz="1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Easy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Connect</a:t>
            </a:r>
            <a:r>
              <a:rPr sz="1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Market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Data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HTTP</a:t>
            </a:r>
            <a:r>
              <a:rPr sz="1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API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FA54C260-0F89-A804-023F-BB71ED213FED}"/>
              </a:ext>
            </a:extLst>
          </p:cNvPr>
          <p:cNvSpPr/>
          <p:nvPr/>
        </p:nvSpPr>
        <p:spPr>
          <a:xfrm>
            <a:off x="350904" y="1269056"/>
            <a:ext cx="45719" cy="4842438"/>
          </a:xfrm>
          <a:custGeom>
            <a:avLst/>
            <a:gdLst/>
            <a:ahLst/>
            <a:cxnLst/>
            <a:rect l="l" t="t" r="r" b="b"/>
            <a:pathLst>
              <a:path h="4323080">
                <a:moveTo>
                  <a:pt x="0" y="0"/>
                </a:moveTo>
                <a:lnTo>
                  <a:pt x="0" y="4322673"/>
                </a:lnTo>
              </a:path>
            </a:pathLst>
          </a:custGeom>
          <a:ln w="19812">
            <a:solidFill>
              <a:srgbClr val="494A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9">
            <a:extLst>
              <a:ext uri="{FF2B5EF4-FFF2-40B4-BE49-F238E27FC236}">
                <a16:creationId xmlns:a16="http://schemas.microsoft.com/office/drawing/2014/main" id="{FB1D5715-4368-19A1-9D02-D0512BA3E887}"/>
              </a:ext>
            </a:extLst>
          </p:cNvPr>
          <p:cNvSpPr/>
          <p:nvPr/>
        </p:nvSpPr>
        <p:spPr>
          <a:xfrm>
            <a:off x="26669" y="5942931"/>
            <a:ext cx="692150" cy="311150"/>
          </a:xfrm>
          <a:custGeom>
            <a:avLst/>
            <a:gdLst/>
            <a:ahLst/>
            <a:cxnLst/>
            <a:rect l="l" t="t" r="r" b="b"/>
            <a:pathLst>
              <a:path w="692150" h="311150">
                <a:moveTo>
                  <a:pt x="0" y="155448"/>
                </a:moveTo>
                <a:lnTo>
                  <a:pt x="21643" y="101206"/>
                </a:lnTo>
                <a:lnTo>
                  <a:pt x="81363" y="55294"/>
                </a:lnTo>
                <a:lnTo>
                  <a:pt x="123059" y="36559"/>
                </a:lnTo>
                <a:lnTo>
                  <a:pt x="171342" y="21223"/>
                </a:lnTo>
                <a:lnTo>
                  <a:pt x="225236" y="9725"/>
                </a:lnTo>
                <a:lnTo>
                  <a:pt x="283764" y="2504"/>
                </a:lnTo>
                <a:lnTo>
                  <a:pt x="345947" y="0"/>
                </a:lnTo>
                <a:lnTo>
                  <a:pt x="408118" y="2504"/>
                </a:lnTo>
                <a:lnTo>
                  <a:pt x="466638" y="9725"/>
                </a:lnTo>
                <a:lnTo>
                  <a:pt x="520530" y="21223"/>
                </a:lnTo>
                <a:lnTo>
                  <a:pt x="568815" y="36559"/>
                </a:lnTo>
                <a:lnTo>
                  <a:pt x="610515" y="55294"/>
                </a:lnTo>
                <a:lnTo>
                  <a:pt x="644651" y="76990"/>
                </a:lnTo>
                <a:lnTo>
                  <a:pt x="686320" y="127505"/>
                </a:lnTo>
                <a:lnTo>
                  <a:pt x="691896" y="155448"/>
                </a:lnTo>
                <a:lnTo>
                  <a:pt x="686320" y="183390"/>
                </a:lnTo>
                <a:lnTo>
                  <a:pt x="644651" y="233905"/>
                </a:lnTo>
                <a:lnTo>
                  <a:pt x="610515" y="255601"/>
                </a:lnTo>
                <a:lnTo>
                  <a:pt x="568815" y="274336"/>
                </a:lnTo>
                <a:lnTo>
                  <a:pt x="520530" y="289672"/>
                </a:lnTo>
                <a:lnTo>
                  <a:pt x="466638" y="301170"/>
                </a:lnTo>
                <a:lnTo>
                  <a:pt x="408118" y="308391"/>
                </a:lnTo>
                <a:lnTo>
                  <a:pt x="345947" y="310896"/>
                </a:lnTo>
                <a:lnTo>
                  <a:pt x="283764" y="308391"/>
                </a:lnTo>
                <a:lnTo>
                  <a:pt x="225236" y="301170"/>
                </a:lnTo>
                <a:lnTo>
                  <a:pt x="171342" y="289672"/>
                </a:lnTo>
                <a:lnTo>
                  <a:pt x="123059" y="274336"/>
                </a:lnTo>
                <a:lnTo>
                  <a:pt x="81363" y="255601"/>
                </a:lnTo>
                <a:lnTo>
                  <a:pt x="47232" y="233905"/>
                </a:lnTo>
                <a:lnTo>
                  <a:pt x="5573" y="183390"/>
                </a:lnTo>
                <a:lnTo>
                  <a:pt x="0" y="155448"/>
                </a:lnTo>
                <a:close/>
              </a:path>
            </a:pathLst>
          </a:custGeom>
          <a:ln w="25907">
            <a:solidFill>
              <a:srgbClr val="494A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10">
            <a:extLst>
              <a:ext uri="{FF2B5EF4-FFF2-40B4-BE49-F238E27FC236}">
                <a16:creationId xmlns:a16="http://schemas.microsoft.com/office/drawing/2014/main" id="{13D357EE-2C1C-420F-835C-A897BA13CA7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0824" y="6043642"/>
            <a:ext cx="243840" cy="109727"/>
          </a:xfrm>
          <a:prstGeom prst="rect">
            <a:avLst/>
          </a:prstGeom>
        </p:spPr>
      </p:pic>
      <p:sp>
        <p:nvSpPr>
          <p:cNvPr id="35" name="object 24">
            <a:extLst>
              <a:ext uri="{FF2B5EF4-FFF2-40B4-BE49-F238E27FC236}">
                <a16:creationId xmlns:a16="http://schemas.microsoft.com/office/drawing/2014/main" id="{EB86E717-6AB8-6EA3-8A64-B430863EC450}"/>
              </a:ext>
            </a:extLst>
          </p:cNvPr>
          <p:cNvSpPr txBox="1">
            <a:spLocks/>
          </p:cNvSpPr>
          <p:nvPr/>
        </p:nvSpPr>
        <p:spPr>
          <a:xfrm>
            <a:off x="463202" y="1284957"/>
            <a:ext cx="10439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rgbClr val="FBCD58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1800" b="0" spc="-20" dirty="0">
                <a:solidFill>
                  <a:srgbClr val="494A69"/>
                </a:solidFill>
                <a:latin typeface="Arial MT"/>
                <a:cs typeface="Arial MT"/>
              </a:rPr>
              <a:t>2025</a:t>
            </a:r>
            <a:endParaRPr lang="en-IN" sz="1800" dirty="0">
              <a:latin typeface="Arial MT"/>
              <a:cs typeface="Arial MT"/>
            </a:endParaRPr>
          </a:p>
        </p:txBody>
      </p:sp>
      <p:sp>
        <p:nvSpPr>
          <p:cNvPr id="37" name="object 27">
            <a:extLst>
              <a:ext uri="{FF2B5EF4-FFF2-40B4-BE49-F238E27FC236}">
                <a16:creationId xmlns:a16="http://schemas.microsoft.com/office/drawing/2014/main" id="{52FB1689-D2C7-0942-B84A-FB3C2247E75F}"/>
              </a:ext>
            </a:extLst>
          </p:cNvPr>
          <p:cNvSpPr txBox="1"/>
          <p:nvPr/>
        </p:nvSpPr>
        <p:spPr>
          <a:xfrm>
            <a:off x="442342" y="2064788"/>
            <a:ext cx="1738750" cy="12606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2340"/>
              </a:lnSpc>
              <a:spcBef>
                <a:spcPts val="229"/>
              </a:spcBef>
            </a:pPr>
            <a:r>
              <a:rPr sz="2000" b="1" spc="-10" dirty="0">
                <a:solidFill>
                  <a:srgbClr val="494A69"/>
                </a:solidFill>
                <a:latin typeface="Arial"/>
                <a:cs typeface="Arial"/>
              </a:rPr>
              <a:t>Launched</a:t>
            </a:r>
            <a:r>
              <a:rPr lang="en-US" sz="2000" b="1" spc="-10" dirty="0">
                <a:solidFill>
                  <a:srgbClr val="494A69"/>
                </a:solidFill>
                <a:latin typeface="Arial"/>
                <a:cs typeface="Arial"/>
              </a:rPr>
              <a:t> True Wealth</a:t>
            </a:r>
          </a:p>
          <a:p>
            <a:pPr marL="12700" marR="5080">
              <a:lnSpc>
                <a:spcPts val="2340"/>
              </a:lnSpc>
              <a:spcBef>
                <a:spcPts val="229"/>
              </a:spcBef>
            </a:pPr>
            <a:endParaRPr lang="en-US" sz="2000" b="1" spc="-10" dirty="0">
              <a:solidFill>
                <a:srgbClr val="494A69"/>
              </a:solidFill>
              <a:latin typeface="Arial"/>
              <a:cs typeface="Arial"/>
            </a:endParaRPr>
          </a:p>
          <a:p>
            <a:pPr marL="12700" marR="5080">
              <a:lnSpc>
                <a:spcPts val="2340"/>
              </a:lnSpc>
              <a:spcBef>
                <a:spcPts val="229"/>
              </a:spcBef>
            </a:pP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88952" cy="6858000"/>
          </a:xfrm>
          <a:solidFill>
            <a:schemeClr val="accent1"/>
          </a:solidFill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" y="0"/>
              <a:ext cx="12185904" cy="6857999"/>
            </a:xfrm>
            <a:prstGeom prst="rect">
              <a:avLst/>
            </a:prstGeom>
            <a:grpFill/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  <a:grpFill/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9949" y="1001725"/>
            <a:ext cx="1004951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6600" b="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b="0" dirty="0">
                <a:solidFill>
                  <a:srgbClr val="FFFFFF"/>
                </a:solidFill>
                <a:latin typeface="Arial MT"/>
                <a:cs typeface="Arial MT"/>
              </a:rPr>
              <a:t>Most</a:t>
            </a:r>
            <a:r>
              <a:rPr sz="6600" b="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dirty="0">
                <a:solidFill>
                  <a:srgbClr val="FFFFFF"/>
                </a:solidFill>
              </a:rPr>
              <a:t>Love</a:t>
            </a:r>
            <a:r>
              <a:rPr lang="en-IN" sz="6600" dirty="0">
                <a:solidFill>
                  <a:srgbClr val="FFFFFF"/>
                </a:solidFill>
              </a:rPr>
              <a:t>d</a:t>
            </a:r>
            <a:r>
              <a:rPr sz="6600" spc="-130" dirty="0">
                <a:solidFill>
                  <a:srgbClr val="FFFFFF"/>
                </a:solidFill>
              </a:rPr>
              <a:t> </a:t>
            </a:r>
            <a:r>
              <a:rPr sz="6600" spc="-10" dirty="0">
                <a:solidFill>
                  <a:srgbClr val="FFFFFF"/>
                </a:solidFill>
              </a:rPr>
              <a:t>Products</a:t>
            </a:r>
            <a:endParaRPr sz="66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495800" y="2400299"/>
            <a:ext cx="6120891" cy="2871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TrueData</a:t>
            </a:r>
            <a:r>
              <a:rPr sz="2000" spc="-100" dirty="0"/>
              <a:t> </a:t>
            </a:r>
            <a:r>
              <a:rPr sz="2000" dirty="0"/>
              <a:t>Velocity</a:t>
            </a:r>
            <a:r>
              <a:rPr sz="2000" spc="-135" dirty="0"/>
              <a:t> </a:t>
            </a:r>
            <a:r>
              <a:rPr sz="2000" spc="-25" dirty="0"/>
              <a:t>2.</a:t>
            </a:r>
            <a:r>
              <a:rPr lang="en-US" sz="2000" spc="-25" dirty="0"/>
              <a:t>0</a:t>
            </a:r>
          </a:p>
          <a:p>
            <a:pPr algn="l">
              <a:lnSpc>
                <a:spcPct val="100000"/>
              </a:lnSpc>
              <a:spcBef>
                <a:spcPts val="95"/>
              </a:spcBef>
            </a:pPr>
            <a:br>
              <a:rPr lang="en-US" sz="2000" spc="-25" dirty="0"/>
            </a:br>
            <a:r>
              <a:rPr sz="2000" dirty="0"/>
              <a:t>TrueData</a:t>
            </a:r>
            <a:r>
              <a:rPr sz="2000" spc="-100" dirty="0"/>
              <a:t> </a:t>
            </a:r>
            <a:r>
              <a:rPr sz="2000" dirty="0"/>
              <a:t>Options</a:t>
            </a:r>
            <a:r>
              <a:rPr sz="2000" spc="-125" dirty="0"/>
              <a:t> </a:t>
            </a:r>
            <a:r>
              <a:rPr sz="2000" spc="-10" dirty="0"/>
              <a:t>Decoder</a:t>
            </a:r>
            <a:endParaRPr lang="en-US" sz="2000" spc="-10" dirty="0"/>
          </a:p>
          <a:p>
            <a:pPr algn="l">
              <a:lnSpc>
                <a:spcPct val="100000"/>
              </a:lnSpc>
              <a:spcBef>
                <a:spcPts val="95"/>
              </a:spcBef>
            </a:pPr>
            <a:endParaRPr lang="en-IN" sz="2000" spc="-10" dirty="0"/>
          </a:p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lang="en-IN" sz="2000" dirty="0"/>
              <a:t>TrueData </a:t>
            </a:r>
            <a:r>
              <a:rPr sz="2000" dirty="0"/>
              <a:t>Market</a:t>
            </a:r>
            <a:r>
              <a:rPr sz="2000" spc="-95" dirty="0"/>
              <a:t> </a:t>
            </a:r>
            <a:r>
              <a:rPr sz="2000" dirty="0"/>
              <a:t>Data</a:t>
            </a:r>
            <a:r>
              <a:rPr sz="2000" spc="-90" dirty="0"/>
              <a:t> </a:t>
            </a:r>
            <a:r>
              <a:rPr sz="2000" spc="-25" dirty="0"/>
              <a:t>API</a:t>
            </a:r>
            <a:endParaRPr lang="en-US" sz="2000" spc="-25" dirty="0"/>
          </a:p>
          <a:p>
            <a:pPr algn="l">
              <a:lnSpc>
                <a:spcPct val="100000"/>
              </a:lnSpc>
              <a:spcBef>
                <a:spcPts val="95"/>
              </a:spcBef>
            </a:pPr>
            <a:endParaRPr lang="en-IN" sz="2000" spc="-25" dirty="0"/>
          </a:p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TrueData</a:t>
            </a:r>
            <a:r>
              <a:rPr sz="2000" spc="-40" dirty="0"/>
              <a:t> </a:t>
            </a:r>
            <a:r>
              <a:rPr sz="2000" dirty="0"/>
              <a:t>Daily</a:t>
            </a:r>
            <a:r>
              <a:rPr sz="2000" spc="-60" dirty="0"/>
              <a:t> </a:t>
            </a:r>
            <a:r>
              <a:rPr sz="2000" dirty="0"/>
              <a:t>IEOD</a:t>
            </a:r>
            <a:r>
              <a:rPr sz="2000" spc="-80" dirty="0"/>
              <a:t> </a:t>
            </a:r>
            <a:r>
              <a:rPr sz="2000" dirty="0"/>
              <a:t>&amp;</a:t>
            </a:r>
            <a:r>
              <a:rPr sz="2000" spc="-65" dirty="0"/>
              <a:t> </a:t>
            </a:r>
            <a:r>
              <a:rPr sz="2000" dirty="0"/>
              <a:t>Historical</a:t>
            </a:r>
            <a:r>
              <a:rPr sz="2000" spc="-70" dirty="0"/>
              <a:t> </a:t>
            </a:r>
            <a:r>
              <a:rPr sz="2000" spc="-20" dirty="0"/>
              <a:t>Data</a:t>
            </a:r>
            <a:endParaRPr lang="en-US" sz="2000" spc="-20" dirty="0"/>
          </a:p>
          <a:p>
            <a:pPr algn="l">
              <a:lnSpc>
                <a:spcPct val="100000"/>
              </a:lnSpc>
              <a:spcBef>
                <a:spcPts val="2575"/>
              </a:spcBef>
            </a:pPr>
            <a:r>
              <a:rPr lang="en-IN" sz="2000" spc="-20" dirty="0" err="1"/>
              <a:t>TrueWealth</a:t>
            </a:r>
            <a:endParaRPr sz="2000" spc="-20" dirty="0"/>
          </a:p>
        </p:txBody>
      </p:sp>
      <p:pic>
        <p:nvPicPr>
          <p:cNvPr id="1028" name="Picture 4" descr="TrueWealth">
            <a:extLst>
              <a:ext uri="{FF2B5EF4-FFF2-40B4-BE49-F238E27FC236}">
                <a16:creationId xmlns:a16="http://schemas.microsoft.com/office/drawing/2014/main" id="{0169D406-9145-0047-D8F9-D198AB3E7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034" y="4918792"/>
            <a:ext cx="627474" cy="35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6" descr="Velocity">
            <a:extLst>
              <a:ext uri="{FF2B5EF4-FFF2-40B4-BE49-F238E27FC236}">
                <a16:creationId xmlns:a16="http://schemas.microsoft.com/office/drawing/2014/main" id="{A0A0F2DF-F260-4AFD-99EC-EDBBA065BC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16CD42-33BC-0095-AA45-84C3F98FA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008" y="2343150"/>
            <a:ext cx="502920" cy="419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F6BB77-649E-0F8D-A099-CB7920068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790" y="3645769"/>
            <a:ext cx="609600" cy="381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775BF6-97C6-DBBD-CF7B-3BF1FB4C8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6886" y="2962247"/>
            <a:ext cx="502920" cy="4889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1CE449-D30D-8805-467C-EB8B3F2C54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912" y="4305329"/>
            <a:ext cx="599866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0928" y="397228"/>
            <a:ext cx="1983739" cy="60667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355"/>
              </a:lnSpc>
            </a:pPr>
            <a:r>
              <a:rPr sz="13800" spc="-760" dirty="0">
                <a:solidFill>
                  <a:srgbClr val="A49BB1"/>
                </a:solidFill>
                <a:latin typeface="Arial MT"/>
                <a:cs typeface="Arial MT"/>
              </a:rPr>
              <a:t>V</a:t>
            </a:r>
            <a:r>
              <a:rPr sz="13800" dirty="0">
                <a:solidFill>
                  <a:srgbClr val="A49BB1"/>
                </a:solidFill>
                <a:latin typeface="Arial MT"/>
                <a:cs typeface="Arial MT"/>
              </a:rPr>
              <a:t>elocity</a:t>
            </a:r>
            <a:endParaRPr sz="13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3273" y="990929"/>
            <a:ext cx="9291320" cy="1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>
              <a:lnSpc>
                <a:spcPct val="1101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TrueData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Velocity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Smart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Plugin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which can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connect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feed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various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4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1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Velocity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2.0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upgraded</a:t>
            </a:r>
            <a:r>
              <a:rPr sz="1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next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gen.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plugin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brings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lots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useful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including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managing</a:t>
            </a:r>
            <a:r>
              <a:rPr sz="1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own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along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importing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exporting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itself.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connect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TA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applications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off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subscription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PC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73273" y="164719"/>
            <a:ext cx="85490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</a:rPr>
              <a:t>TrueData™</a:t>
            </a:r>
            <a:r>
              <a:rPr sz="4400" spc="-245" dirty="0">
                <a:solidFill>
                  <a:srgbClr val="FFFFFF"/>
                </a:solidFill>
              </a:rPr>
              <a:t> </a:t>
            </a:r>
            <a:r>
              <a:rPr sz="4400" spc="-25" dirty="0">
                <a:solidFill>
                  <a:srgbClr val="FFFFFF"/>
                </a:solidFill>
              </a:rPr>
              <a:t>Velocity</a:t>
            </a:r>
            <a:r>
              <a:rPr sz="4400" spc="-280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Advantages</a:t>
            </a:r>
            <a:endParaRPr sz="440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6416" y="2791966"/>
            <a:ext cx="9488424" cy="3956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3398" y="369149"/>
            <a:ext cx="933450" cy="6121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7170"/>
              </a:lnSpc>
              <a:tabLst>
                <a:tab pos="3037840" algn="l"/>
              </a:tabLst>
            </a:pPr>
            <a:r>
              <a:rPr sz="6400" spc="-10" dirty="0">
                <a:solidFill>
                  <a:srgbClr val="A49BB1"/>
                </a:solidFill>
                <a:latin typeface="Arial MT"/>
                <a:cs typeface="Arial MT"/>
              </a:rPr>
              <a:t>Options</a:t>
            </a:r>
            <a:r>
              <a:rPr sz="6400" dirty="0">
                <a:solidFill>
                  <a:srgbClr val="A49BB1"/>
                </a:solidFill>
                <a:latin typeface="Arial MT"/>
                <a:cs typeface="Arial MT"/>
              </a:rPr>
              <a:t>	</a:t>
            </a:r>
            <a:r>
              <a:rPr sz="6400" spc="-10" dirty="0">
                <a:solidFill>
                  <a:srgbClr val="A49BB1"/>
                </a:solidFill>
                <a:latin typeface="Arial MT"/>
                <a:cs typeface="Arial MT"/>
              </a:rPr>
              <a:t>Decoder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3273" y="990929"/>
            <a:ext cx="9401810" cy="965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TrueData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Options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Decoder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feature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rich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FNO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trading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web-based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Live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Option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Chain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Builder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IV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Charts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Open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Interest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Charts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etc.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devices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(including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Desktop,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Laptop,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Mobile,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Tablet)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operating</a:t>
            </a:r>
            <a:r>
              <a:rPr sz="1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Windows,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iOS,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Mac,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Linux,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Android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73273" y="242442"/>
            <a:ext cx="89789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99909" algn="l"/>
              </a:tabLst>
            </a:pPr>
            <a:r>
              <a:rPr sz="3900" spc="-20" dirty="0">
                <a:solidFill>
                  <a:srgbClr val="FFFFFF"/>
                </a:solidFill>
              </a:rPr>
              <a:t>TrueData™</a:t>
            </a:r>
            <a:r>
              <a:rPr sz="3900" spc="-185" dirty="0">
                <a:solidFill>
                  <a:srgbClr val="FFFFFF"/>
                </a:solidFill>
              </a:rPr>
              <a:t> </a:t>
            </a:r>
            <a:r>
              <a:rPr sz="3900" dirty="0">
                <a:solidFill>
                  <a:srgbClr val="FFFFFF"/>
                </a:solidFill>
              </a:rPr>
              <a:t>Options</a:t>
            </a:r>
            <a:r>
              <a:rPr sz="3900" spc="-165" dirty="0">
                <a:solidFill>
                  <a:srgbClr val="FFFFFF"/>
                </a:solidFill>
              </a:rPr>
              <a:t> </a:t>
            </a:r>
            <a:r>
              <a:rPr sz="3900" spc="-10" dirty="0">
                <a:solidFill>
                  <a:srgbClr val="FFFFFF"/>
                </a:solidFill>
              </a:rPr>
              <a:t>Decoder</a:t>
            </a:r>
            <a:r>
              <a:rPr sz="3900" dirty="0">
                <a:solidFill>
                  <a:srgbClr val="FFFFFF"/>
                </a:solidFill>
              </a:rPr>
              <a:t>	</a:t>
            </a:r>
            <a:r>
              <a:rPr sz="3900" spc="-10" dirty="0">
                <a:solidFill>
                  <a:srgbClr val="FFFFFF"/>
                </a:solidFill>
              </a:rPr>
              <a:t>Features</a:t>
            </a:r>
            <a:endParaRPr sz="39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6416" y="2080258"/>
            <a:ext cx="9488424" cy="4660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848" y="183256"/>
            <a:ext cx="1018540" cy="64954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7834"/>
              </a:lnSpc>
            </a:pPr>
            <a:r>
              <a:rPr sz="7000" dirty="0">
                <a:solidFill>
                  <a:srgbClr val="A49BB1"/>
                </a:solidFill>
                <a:latin typeface="Arial MT"/>
                <a:cs typeface="Arial MT"/>
              </a:rPr>
              <a:t>Market</a:t>
            </a:r>
            <a:r>
              <a:rPr sz="7000" spc="-10" dirty="0">
                <a:solidFill>
                  <a:srgbClr val="A49BB1"/>
                </a:solidFill>
                <a:latin typeface="Arial MT"/>
                <a:cs typeface="Arial MT"/>
              </a:rPr>
              <a:t> </a:t>
            </a:r>
            <a:r>
              <a:rPr sz="7000" dirty="0">
                <a:solidFill>
                  <a:srgbClr val="A49BB1"/>
                </a:solidFill>
                <a:latin typeface="Arial MT"/>
                <a:cs typeface="Arial MT"/>
              </a:rPr>
              <a:t>Data</a:t>
            </a:r>
            <a:r>
              <a:rPr sz="7000" spc="-395" dirty="0">
                <a:solidFill>
                  <a:srgbClr val="A49BB1"/>
                </a:solidFill>
                <a:latin typeface="Arial MT"/>
                <a:cs typeface="Arial MT"/>
              </a:rPr>
              <a:t> </a:t>
            </a:r>
            <a:r>
              <a:rPr sz="7000" spc="-25" dirty="0">
                <a:solidFill>
                  <a:srgbClr val="A49BB1"/>
                </a:solidFill>
                <a:latin typeface="Arial MT"/>
                <a:cs typeface="Arial MT"/>
              </a:rPr>
              <a:t>API</a:t>
            </a:r>
            <a:endParaRPr sz="7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3273" y="990929"/>
            <a:ext cx="9363075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 MT"/>
              </a:rPr>
              <a:t>TrueData offers robust real-time market data delivery through </a:t>
            </a:r>
            <a:r>
              <a:rPr lang="en-US" sz="1400" b="1" dirty="0" err="1">
                <a:solidFill>
                  <a:schemeClr val="bg1"/>
                </a:solidFill>
                <a:latin typeface="Arial MT"/>
              </a:rPr>
              <a:t>WebSockets</a:t>
            </a:r>
            <a:r>
              <a:rPr lang="en-US" sz="1400" b="1" dirty="0">
                <a:solidFill>
                  <a:schemeClr val="bg1"/>
                </a:solidFill>
                <a:latin typeface="Arial MT"/>
              </a:rPr>
              <a:t> and powerful REST APIs designed for seamless analytics and application development.</a:t>
            </a:r>
            <a:br>
              <a:rPr lang="en-US" sz="1400" b="1" dirty="0">
                <a:solidFill>
                  <a:schemeClr val="bg1"/>
                </a:solidFill>
                <a:latin typeface="Arial MT"/>
              </a:rPr>
            </a:br>
            <a:br>
              <a:rPr lang="en-US" sz="1400" dirty="0">
                <a:solidFill>
                  <a:schemeClr val="bg1"/>
                </a:solidFill>
                <a:latin typeface="Arial MT"/>
              </a:rPr>
            </a:br>
            <a:r>
              <a:rPr lang="en-US" sz="1400" dirty="0">
                <a:solidFill>
                  <a:schemeClr val="bg1"/>
                </a:solidFill>
                <a:latin typeface="Arial MT"/>
              </a:rPr>
              <a:t>Our REST APIs include ready-to-use modules such as </a:t>
            </a:r>
            <a:r>
              <a:rPr lang="en-US" sz="1400" b="1" dirty="0">
                <a:solidFill>
                  <a:schemeClr val="bg1"/>
                </a:solidFill>
                <a:latin typeface="Arial MT"/>
              </a:rPr>
              <a:t>Live Option Chain with Greeks, Top Gainers/Losers, Corporate Actions</a:t>
            </a:r>
            <a:r>
              <a:rPr lang="en-US" sz="1400" dirty="0">
                <a:solidFill>
                  <a:schemeClr val="bg1"/>
                </a:solidFill>
                <a:latin typeface="Arial MT"/>
              </a:rPr>
              <a:t>, and much more — enabling developers to integrate advanced market intelligence effortlessly.</a:t>
            </a:r>
            <a:br>
              <a:rPr lang="en-US" sz="1400" dirty="0">
                <a:solidFill>
                  <a:schemeClr val="bg1"/>
                </a:solidFill>
                <a:latin typeface="Arial MT"/>
              </a:rPr>
            </a:br>
            <a:br>
              <a:rPr lang="en-US" sz="1400" dirty="0">
                <a:solidFill>
                  <a:schemeClr val="bg1"/>
                </a:solidFill>
                <a:latin typeface="Arial MT"/>
              </a:rPr>
            </a:br>
            <a:r>
              <a:rPr lang="en-US" sz="1400" dirty="0">
                <a:solidFill>
                  <a:schemeClr val="bg1"/>
                </a:solidFill>
                <a:latin typeface="Arial MT"/>
              </a:rPr>
              <a:t>Combined with our high-speed WebSocket streaming, these tools provide the perfect backbone for building responsive, data-driven platforms and next-gen trading analytics.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64350" algn="l"/>
              </a:tabLst>
            </a:pPr>
            <a:r>
              <a:rPr sz="3900" spc="-35" dirty="0">
                <a:solidFill>
                  <a:srgbClr val="FFFFFF"/>
                </a:solidFill>
              </a:rPr>
              <a:t>TrueData™</a:t>
            </a:r>
            <a:r>
              <a:rPr sz="3900" spc="-229" dirty="0">
                <a:solidFill>
                  <a:srgbClr val="FFFFFF"/>
                </a:solidFill>
              </a:rPr>
              <a:t> </a:t>
            </a:r>
            <a:r>
              <a:rPr sz="3900" dirty="0">
                <a:solidFill>
                  <a:srgbClr val="FFFFFF"/>
                </a:solidFill>
              </a:rPr>
              <a:t>API</a:t>
            </a:r>
            <a:r>
              <a:rPr sz="3900" spc="-225" dirty="0">
                <a:solidFill>
                  <a:srgbClr val="FFFFFF"/>
                </a:solidFill>
              </a:rPr>
              <a:t> </a:t>
            </a:r>
            <a:r>
              <a:rPr sz="3900" dirty="0">
                <a:solidFill>
                  <a:srgbClr val="FFFFFF"/>
                </a:solidFill>
              </a:rPr>
              <a:t>Advantage</a:t>
            </a:r>
            <a:r>
              <a:rPr sz="3900" spc="-85" dirty="0">
                <a:solidFill>
                  <a:srgbClr val="FFFFFF"/>
                </a:solidFill>
              </a:rPr>
              <a:t> </a:t>
            </a:r>
            <a:r>
              <a:rPr sz="3900" spc="-50" dirty="0">
                <a:solidFill>
                  <a:srgbClr val="FFFFFF"/>
                </a:solidFill>
              </a:rPr>
              <a:t>&amp;</a:t>
            </a:r>
            <a:r>
              <a:rPr sz="3900" dirty="0">
                <a:solidFill>
                  <a:srgbClr val="FFFFFF"/>
                </a:solidFill>
              </a:rPr>
              <a:t>	</a:t>
            </a:r>
            <a:r>
              <a:rPr sz="3900" spc="-10" dirty="0">
                <a:solidFill>
                  <a:srgbClr val="FFFFFF"/>
                </a:solidFill>
              </a:rPr>
              <a:t>Features</a:t>
            </a:r>
            <a:endParaRPr sz="39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6416" y="2895599"/>
            <a:ext cx="9488424" cy="3800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5025" y="195116"/>
            <a:ext cx="592455" cy="6465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515"/>
              </a:lnSpc>
            </a:pPr>
            <a:r>
              <a:rPr sz="4000" dirty="0">
                <a:solidFill>
                  <a:srgbClr val="A49BB1"/>
                </a:solidFill>
                <a:latin typeface="Arial MT"/>
                <a:cs typeface="Arial MT"/>
              </a:rPr>
              <a:t>Daily</a:t>
            </a:r>
            <a:r>
              <a:rPr sz="4000" spc="-80" dirty="0">
                <a:solidFill>
                  <a:srgbClr val="A49BB1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A49BB1"/>
                </a:solidFill>
                <a:latin typeface="Arial MT"/>
                <a:cs typeface="Arial MT"/>
              </a:rPr>
              <a:t>IEOD</a:t>
            </a:r>
            <a:r>
              <a:rPr sz="4000" spc="-70" dirty="0">
                <a:solidFill>
                  <a:srgbClr val="A49BB1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A49BB1"/>
                </a:solidFill>
                <a:latin typeface="Arial MT"/>
                <a:cs typeface="Arial MT"/>
              </a:rPr>
              <a:t>&amp;</a:t>
            </a:r>
            <a:r>
              <a:rPr sz="4000" spc="-85" dirty="0">
                <a:solidFill>
                  <a:srgbClr val="A49BB1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A49BB1"/>
                </a:solidFill>
                <a:latin typeface="Arial MT"/>
                <a:cs typeface="Arial MT"/>
              </a:rPr>
              <a:t>Historical</a:t>
            </a:r>
            <a:r>
              <a:rPr sz="4000" spc="-70" dirty="0">
                <a:solidFill>
                  <a:srgbClr val="A49BB1"/>
                </a:solidFill>
                <a:latin typeface="Arial MT"/>
                <a:cs typeface="Arial MT"/>
              </a:rPr>
              <a:t> </a:t>
            </a:r>
            <a:r>
              <a:rPr sz="4000" spc="-20" dirty="0">
                <a:solidFill>
                  <a:srgbClr val="A49BB1"/>
                </a:solidFill>
                <a:latin typeface="Arial MT"/>
                <a:cs typeface="Arial MT"/>
              </a:rPr>
              <a:t>Data</a:t>
            </a:r>
            <a:endParaRPr sz="4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3273" y="990929"/>
            <a:ext cx="9288780" cy="1520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 MT"/>
              </a:rPr>
              <a:t>TrueData is a pioneer in delivering India’s fastest Daily IEOD (Incremental End-of-Day) Tick and 1-Minute market data — ahead of any other vendor in the country.</a:t>
            </a:r>
            <a:r>
              <a:rPr lang="en-US" sz="1400" dirty="0">
                <a:solidFill>
                  <a:schemeClr val="bg1"/>
                </a:solidFill>
                <a:latin typeface="Arial MT"/>
              </a:rPr>
              <a:t> We ensure timely access to NSE &amp; BSE (Equity, Futures &amp; Options) data within 45–60 minutes of market close, and MCX (Commodity) data within just 15 minutes.</a:t>
            </a:r>
          </a:p>
          <a:p>
            <a:br>
              <a:rPr lang="en-US" sz="1400" b="1" dirty="0">
                <a:solidFill>
                  <a:schemeClr val="bg1"/>
                </a:solidFill>
                <a:latin typeface="Arial MT"/>
              </a:rPr>
            </a:br>
            <a:r>
              <a:rPr lang="en-US" sz="1400" b="1" dirty="0">
                <a:solidFill>
                  <a:schemeClr val="bg1"/>
                </a:solidFill>
                <a:latin typeface="Arial MT"/>
              </a:rPr>
              <a:t>Our offerings include 1-minute historical data for NSE/BSE Equity, Futures, Options, Indices, and MCX (Commodity),</a:t>
            </a:r>
            <a:br>
              <a:rPr lang="en-US" sz="1400" dirty="0">
                <a:solidFill>
                  <a:schemeClr val="bg1"/>
                </a:solidFill>
                <a:latin typeface="Arial MT"/>
              </a:rPr>
            </a:br>
            <a:r>
              <a:rPr lang="en-US" sz="1400" dirty="0">
                <a:solidFill>
                  <a:schemeClr val="bg1"/>
                </a:solidFill>
                <a:latin typeface="Arial MT"/>
              </a:rPr>
              <a:t>empowering traders and platforms with accurate, time-critical market intelligence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73273" y="274447"/>
            <a:ext cx="893127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-20" dirty="0">
                <a:solidFill>
                  <a:srgbClr val="FFFFFF"/>
                </a:solidFill>
              </a:rPr>
              <a:t>TrueData™</a:t>
            </a:r>
            <a:r>
              <a:rPr sz="3700" spc="-90" dirty="0">
                <a:solidFill>
                  <a:srgbClr val="FFFFFF"/>
                </a:solidFill>
              </a:rPr>
              <a:t> </a:t>
            </a:r>
            <a:r>
              <a:rPr sz="3700" dirty="0">
                <a:solidFill>
                  <a:srgbClr val="FFFFFF"/>
                </a:solidFill>
              </a:rPr>
              <a:t>Daily</a:t>
            </a:r>
            <a:r>
              <a:rPr sz="3700" spc="-114" dirty="0">
                <a:solidFill>
                  <a:srgbClr val="FFFFFF"/>
                </a:solidFill>
              </a:rPr>
              <a:t> </a:t>
            </a:r>
            <a:r>
              <a:rPr sz="3700" dirty="0">
                <a:solidFill>
                  <a:srgbClr val="FFFFFF"/>
                </a:solidFill>
              </a:rPr>
              <a:t>IEOD</a:t>
            </a:r>
            <a:r>
              <a:rPr sz="3700" spc="-125" dirty="0">
                <a:solidFill>
                  <a:srgbClr val="FFFFFF"/>
                </a:solidFill>
              </a:rPr>
              <a:t> </a:t>
            </a:r>
            <a:r>
              <a:rPr sz="3700" dirty="0">
                <a:solidFill>
                  <a:srgbClr val="FFFFFF"/>
                </a:solidFill>
              </a:rPr>
              <a:t>&amp;</a:t>
            </a:r>
            <a:r>
              <a:rPr sz="3700" spc="-130" dirty="0">
                <a:solidFill>
                  <a:srgbClr val="FFFFFF"/>
                </a:solidFill>
              </a:rPr>
              <a:t> </a:t>
            </a:r>
            <a:r>
              <a:rPr sz="3700" dirty="0">
                <a:solidFill>
                  <a:srgbClr val="FFFFFF"/>
                </a:solidFill>
              </a:rPr>
              <a:t>Historical</a:t>
            </a:r>
            <a:r>
              <a:rPr sz="3700" spc="-95" dirty="0">
                <a:solidFill>
                  <a:srgbClr val="FFFFFF"/>
                </a:solidFill>
              </a:rPr>
              <a:t> </a:t>
            </a:r>
            <a:r>
              <a:rPr sz="3700" spc="-20" dirty="0">
                <a:solidFill>
                  <a:srgbClr val="FFFFFF"/>
                </a:solidFill>
              </a:rPr>
              <a:t>Data</a:t>
            </a:r>
            <a:endParaRPr sz="37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9839" y="2636518"/>
            <a:ext cx="9488423" cy="41041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ABA1-CFE8-7610-90CA-4D4289621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3273" y="242442"/>
            <a:ext cx="8942705" cy="492443"/>
          </a:xfrm>
        </p:spPr>
        <p:txBody>
          <a:bodyPr/>
          <a:lstStyle/>
          <a:p>
            <a:r>
              <a:rPr lang="en-IN" spc="-35" dirty="0">
                <a:solidFill>
                  <a:srgbClr val="FFFFFF"/>
                </a:solidFill>
              </a:rPr>
              <a:t>True Wealth </a:t>
            </a:r>
            <a:r>
              <a:rPr lang="en-IN" dirty="0">
                <a:solidFill>
                  <a:srgbClr val="FFFFFF"/>
                </a:solidFill>
              </a:rPr>
              <a:t>Advantage</a:t>
            </a:r>
            <a:r>
              <a:rPr lang="en-IN" spc="-85" dirty="0">
                <a:solidFill>
                  <a:srgbClr val="FFFFFF"/>
                </a:solidFill>
              </a:rPr>
              <a:t> </a:t>
            </a:r>
            <a:r>
              <a:rPr lang="en-IN" spc="-50" dirty="0">
                <a:solidFill>
                  <a:srgbClr val="FFFFFF"/>
                </a:solidFill>
              </a:rPr>
              <a:t>&amp; </a:t>
            </a:r>
            <a:r>
              <a:rPr lang="en-IN" spc="-10" dirty="0">
                <a:solidFill>
                  <a:srgbClr val="FFFFFF"/>
                </a:solidFill>
              </a:rPr>
              <a:t>Features</a:t>
            </a:r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12AFB18-22D0-0343-4B19-FDCFF37E97CF}"/>
              </a:ext>
            </a:extLst>
          </p:cNvPr>
          <p:cNvSpPr txBox="1"/>
          <p:nvPr/>
        </p:nvSpPr>
        <p:spPr>
          <a:xfrm>
            <a:off x="815025" y="195116"/>
            <a:ext cx="689676" cy="6465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515"/>
              </a:lnSpc>
            </a:pPr>
            <a:r>
              <a:rPr lang="en-US" sz="8800" dirty="0">
                <a:solidFill>
                  <a:srgbClr val="A49BB1"/>
                </a:solidFill>
                <a:latin typeface="Arial MT"/>
                <a:cs typeface="Arial MT"/>
              </a:rPr>
              <a:t>True Wealth</a:t>
            </a:r>
            <a:endParaRPr sz="8800" dirty="0">
              <a:latin typeface="Arial MT"/>
              <a:cs typeface="Arial M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3345E0C-D117-7C83-4CE8-4A0B4FB4E55B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828800" y="1027244"/>
            <a:ext cx="1013459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Market Intelligence at Your Fingertips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True Wealth Platform delivers instant access to real-time corporate announcements,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financial results, and a comprehensive financial calendar. Investors are empowered with timely updates to track key events, anticipate market trends,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and make confident, well-informed decisions.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Insight-Driven Decision Support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From dividend declarations to mergers and acquisitions, the platform analyzes corporate actions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and evaluates their market impact. This enables investors to identify opportunities, assess risks, and proactively adjust their portfolios with speed and precision.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AI-Powered Announcement Summaries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Our intelligent summarization engine distills lengthy disclosures into concise, easy-to-digest briefs—highlighting the core verdict and sentiment of each announcement.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allows investors to quickly grasp the implications and respond with clarity and confidence.</a:t>
            </a:r>
          </a:p>
        </p:txBody>
      </p:sp>
    </p:spTree>
    <p:extLst>
      <p:ext uri="{BB962C8B-B14F-4D97-AF65-F5344CB8AC3E}">
        <p14:creationId xmlns:p14="http://schemas.microsoft.com/office/powerpoint/2010/main" val="3973173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6DF96DE1-9003-E1F1-0A98-8F4A067FBD6C}"/>
              </a:ext>
            </a:extLst>
          </p:cNvPr>
          <p:cNvSpPr txBox="1"/>
          <p:nvPr/>
        </p:nvSpPr>
        <p:spPr>
          <a:xfrm>
            <a:off x="605724" y="196214"/>
            <a:ext cx="689676" cy="6465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515"/>
              </a:lnSpc>
            </a:pPr>
            <a:r>
              <a:rPr lang="en-US" sz="8800" dirty="0">
                <a:solidFill>
                  <a:srgbClr val="A49BB1"/>
                </a:solidFill>
                <a:latin typeface="Arial MT"/>
                <a:cs typeface="Arial MT"/>
              </a:rPr>
              <a:t>True Wealth</a:t>
            </a:r>
            <a:endParaRPr sz="8800" dirty="0">
              <a:latin typeface="Arial MT"/>
              <a:cs typeface="Arial M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6B007-36D1-BACE-A41E-916AADA0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99" y="3962400"/>
            <a:ext cx="5421043" cy="213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16EA8-9228-60AC-B651-DC6564A09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329" y="3962400"/>
            <a:ext cx="4175033" cy="2057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5FB977-4933-4EA4-F4CA-646AB1991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04800"/>
            <a:ext cx="5676899" cy="2667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8224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9" y="4005071"/>
              <a:ext cx="10728960" cy="215950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03400" y="4252340"/>
            <a:ext cx="4104640" cy="171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 dirty="0">
                <a:solidFill>
                  <a:srgbClr val="FFFFFF"/>
                </a:solidFill>
                <a:latin typeface="Arial"/>
                <a:cs typeface="Arial"/>
              </a:rPr>
              <a:t>Vision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2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TrueData’s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vision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deliver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products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cover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entire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spectrum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feeds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Decision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making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Trading.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1886" y="4826505"/>
            <a:ext cx="4102735" cy="1099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TrueData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become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best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vendor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country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(&amp;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beyond)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providing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users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multitude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solutions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sector.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1886" y="4210558"/>
            <a:ext cx="15379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 dirty="0">
                <a:solidFill>
                  <a:srgbClr val="FFFFFF"/>
                </a:solidFill>
                <a:latin typeface="Arial"/>
                <a:cs typeface="Arial"/>
              </a:rPr>
              <a:t>Mission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0292" y="434340"/>
              <a:ext cx="4070604" cy="40706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1731" y="487680"/>
              <a:ext cx="3887724" cy="3887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55564" y="423672"/>
              <a:ext cx="2080260" cy="2068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7003" y="477012"/>
              <a:ext cx="1897379" cy="18851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55564" y="2441448"/>
              <a:ext cx="2080260" cy="20680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7003" y="2494788"/>
              <a:ext cx="1897379" cy="18851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55564" y="4448555"/>
              <a:ext cx="2080260" cy="20680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47003" y="4501896"/>
              <a:ext cx="1897379" cy="18851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53528" y="4448555"/>
              <a:ext cx="2081783" cy="20680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44968" y="4501896"/>
              <a:ext cx="1898903" cy="18851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60635" y="4448555"/>
              <a:ext cx="2080260" cy="20680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52076" y="4501896"/>
              <a:ext cx="1897379" cy="1885188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16635" y="709421"/>
            <a:ext cx="297307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4800" b="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Arial MT"/>
                <a:cs typeface="Arial MT"/>
              </a:rPr>
              <a:t>Future</a:t>
            </a:r>
            <a:endParaRPr sz="4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800" spc="-10" dirty="0">
                <a:solidFill>
                  <a:srgbClr val="FFFFFF"/>
                </a:solidFill>
              </a:rPr>
              <a:t>Projects</a:t>
            </a:r>
            <a:endParaRPr sz="4800"/>
          </a:p>
        </p:txBody>
      </p:sp>
      <p:sp>
        <p:nvSpPr>
          <p:cNvPr id="17" name="object 17"/>
          <p:cNvSpPr txBox="1"/>
          <p:nvPr/>
        </p:nvSpPr>
        <p:spPr>
          <a:xfrm>
            <a:off x="916635" y="2476959"/>
            <a:ext cx="3583304" cy="42909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 MT"/>
              </a:rPr>
              <a:t>Your All-in-One Market Data Engine – Positioning You for Profits</a:t>
            </a:r>
            <a:endParaRPr lang="en-US" sz="1200" dirty="0">
              <a:solidFill>
                <a:schemeClr val="bg1"/>
              </a:solidFill>
              <a:latin typeface="Arial MT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MT"/>
              </a:rPr>
              <a:t>We’re building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TrueData Web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 — a powerful, browser-based platform offering advanced charting, live alerts, and integrated trading tools for modern traders.</a:t>
            </a:r>
            <a:br>
              <a:rPr lang="en-US" sz="1200" dirty="0">
                <a:solidFill>
                  <a:schemeClr val="bg1"/>
                </a:solidFill>
                <a:latin typeface="Arial MT"/>
              </a:rPr>
            </a:br>
            <a:endParaRPr lang="en-US" sz="1200" dirty="0">
              <a:solidFill>
                <a:schemeClr val="bg1"/>
              </a:solidFill>
              <a:latin typeface="Arial MT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MT"/>
              </a:rPr>
              <a:t>Looking ahead, we are planning to expand into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global markets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 by integrating data from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US and Singapore exchanges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, prominent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cryptocurrency platforms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, and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forex markets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.</a:t>
            </a:r>
            <a:br>
              <a:rPr lang="en-US" sz="1200" dirty="0">
                <a:solidFill>
                  <a:schemeClr val="bg1"/>
                </a:solidFill>
                <a:latin typeface="Arial MT"/>
              </a:rPr>
            </a:br>
            <a:endParaRPr lang="en-US" sz="1200" dirty="0">
              <a:solidFill>
                <a:schemeClr val="bg1"/>
              </a:solidFill>
              <a:latin typeface="Arial MT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MT"/>
              </a:rPr>
              <a:t>We also aim to launch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AI-powered news summary services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, aggregating key insights from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corporate announcements and global financial news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, helping users stay ahead with intelligent, real-time information.</a:t>
            </a:r>
            <a:br>
              <a:rPr lang="en-US" sz="1200" dirty="0">
                <a:solidFill>
                  <a:schemeClr val="bg1"/>
                </a:solidFill>
                <a:latin typeface="Arial MT"/>
              </a:rPr>
            </a:br>
            <a:endParaRPr lang="en-US" sz="1200" dirty="0">
              <a:solidFill>
                <a:schemeClr val="bg1"/>
              </a:solidFill>
              <a:latin typeface="Arial MT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MT"/>
              </a:rPr>
              <a:t>These upcoming ventures are part of our vision to deliver a </a:t>
            </a:r>
            <a:r>
              <a:rPr lang="en-US" sz="1200" b="1" dirty="0">
                <a:solidFill>
                  <a:schemeClr val="bg1"/>
                </a:solidFill>
                <a:latin typeface="Arial MT"/>
              </a:rPr>
              <a:t>complete ecosystem of tools and services</a:t>
            </a:r>
            <a:r>
              <a:rPr lang="en-US" sz="1200" dirty="0">
                <a:solidFill>
                  <a:schemeClr val="bg1"/>
                </a:solidFill>
                <a:latin typeface="Arial MT"/>
              </a:rPr>
              <a:t> that empower traders, developers, and platforms worldwide.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81300" y="6391655"/>
              <a:ext cx="8241665" cy="0"/>
            </a:xfrm>
            <a:custGeom>
              <a:avLst/>
              <a:gdLst/>
              <a:ahLst/>
              <a:cxnLst/>
              <a:rect l="l" t="t" r="r" b="b"/>
              <a:pathLst>
                <a:path w="8241665">
                  <a:moveTo>
                    <a:pt x="82415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FFFF"/>
                </a:solidFill>
              </a:rPr>
              <a:t>Testimonials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8515" y="6267399"/>
            <a:ext cx="949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585858"/>
                </a:solidFill>
                <a:latin typeface="Arial MT"/>
                <a:cs typeface="Arial MT"/>
              </a:rPr>
              <a:t>TrueData.in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1040" y="1394460"/>
            <a:ext cx="10747375" cy="4573905"/>
            <a:chOff x="701040" y="1394460"/>
            <a:chExt cx="10747375" cy="45739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572" y="3467100"/>
              <a:ext cx="1545336" cy="15453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5228" y="2289048"/>
              <a:ext cx="1545335" cy="15453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040" y="1394460"/>
              <a:ext cx="6827520" cy="26136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572" y="1421904"/>
              <a:ext cx="6696709" cy="2482850"/>
            </a:xfrm>
            <a:custGeom>
              <a:avLst/>
              <a:gdLst/>
              <a:ahLst/>
              <a:cxnLst/>
              <a:rect l="l" t="t" r="r" b="b"/>
              <a:pathLst>
                <a:path w="6696709" h="2482850">
                  <a:moveTo>
                    <a:pt x="6696456" y="0"/>
                  </a:moveTo>
                  <a:lnTo>
                    <a:pt x="0" y="0"/>
                  </a:lnTo>
                  <a:lnTo>
                    <a:pt x="0" y="2052815"/>
                  </a:lnTo>
                  <a:lnTo>
                    <a:pt x="922350" y="2052815"/>
                  </a:lnTo>
                  <a:lnTo>
                    <a:pt x="936625" y="2482583"/>
                  </a:lnTo>
                  <a:lnTo>
                    <a:pt x="1204061" y="2052815"/>
                  </a:lnTo>
                  <a:lnTo>
                    <a:pt x="6696456" y="2052815"/>
                  </a:lnTo>
                  <a:lnTo>
                    <a:pt x="6696456" y="0"/>
                  </a:lnTo>
                  <a:close/>
                </a:path>
              </a:pathLst>
            </a:custGeom>
            <a:solidFill>
              <a:srgbClr val="D96F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768" y="3413760"/>
              <a:ext cx="6827520" cy="25542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86300" y="3440810"/>
              <a:ext cx="6696709" cy="2423795"/>
            </a:xfrm>
            <a:custGeom>
              <a:avLst/>
              <a:gdLst/>
              <a:ahLst/>
              <a:cxnLst/>
              <a:rect l="l" t="t" r="r" b="b"/>
              <a:pathLst>
                <a:path w="6696709" h="2423795">
                  <a:moveTo>
                    <a:pt x="6696456" y="370713"/>
                  </a:moveTo>
                  <a:lnTo>
                    <a:pt x="5685015" y="370713"/>
                  </a:lnTo>
                  <a:lnTo>
                    <a:pt x="5672709" y="0"/>
                  </a:lnTo>
                  <a:lnTo>
                    <a:pt x="5442013" y="370713"/>
                  </a:lnTo>
                  <a:lnTo>
                    <a:pt x="0" y="370713"/>
                  </a:lnTo>
                  <a:lnTo>
                    <a:pt x="0" y="2423541"/>
                  </a:lnTo>
                  <a:lnTo>
                    <a:pt x="6696456" y="2423541"/>
                  </a:lnTo>
                  <a:lnTo>
                    <a:pt x="6696456" y="370713"/>
                  </a:lnTo>
                  <a:close/>
                </a:path>
              </a:pathLst>
            </a:custGeom>
            <a:solidFill>
              <a:srgbClr val="9F5B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1456" y="1638300"/>
              <a:ext cx="759460" cy="480059"/>
            </a:xfrm>
            <a:custGeom>
              <a:avLst/>
              <a:gdLst/>
              <a:ahLst/>
              <a:cxnLst/>
              <a:rect l="l" t="t" r="r" b="b"/>
              <a:pathLst>
                <a:path w="759460" h="480060">
                  <a:moveTo>
                    <a:pt x="331724" y="0"/>
                  </a:moveTo>
                  <a:lnTo>
                    <a:pt x="282691" y="3312"/>
                  </a:lnTo>
                  <a:lnTo>
                    <a:pt x="235897" y="12934"/>
                  </a:lnTo>
                  <a:lnTo>
                    <a:pt x="191853" y="28392"/>
                  </a:lnTo>
                  <a:lnTo>
                    <a:pt x="151072" y="49215"/>
                  </a:lnTo>
                  <a:lnTo>
                    <a:pt x="114066" y="74928"/>
                  </a:lnTo>
                  <a:lnTo>
                    <a:pt x="81347" y="105059"/>
                  </a:lnTo>
                  <a:lnTo>
                    <a:pt x="53428" y="139136"/>
                  </a:lnTo>
                  <a:lnTo>
                    <a:pt x="30822" y="176684"/>
                  </a:lnTo>
                  <a:lnTo>
                    <a:pt x="14040" y="217232"/>
                  </a:lnTo>
                  <a:lnTo>
                    <a:pt x="3595" y="260307"/>
                  </a:lnTo>
                  <a:lnTo>
                    <a:pt x="0" y="305435"/>
                  </a:lnTo>
                  <a:lnTo>
                    <a:pt x="736" y="327278"/>
                  </a:lnTo>
                  <a:lnTo>
                    <a:pt x="9208" y="375501"/>
                  </a:lnTo>
                  <a:lnTo>
                    <a:pt x="32785" y="417432"/>
                  </a:lnTo>
                  <a:lnTo>
                    <a:pt x="68713" y="450530"/>
                  </a:lnTo>
                  <a:lnTo>
                    <a:pt x="114235" y="472254"/>
                  </a:lnTo>
                  <a:lnTo>
                    <a:pt x="166598" y="480060"/>
                  </a:lnTo>
                  <a:lnTo>
                    <a:pt x="218963" y="472254"/>
                  </a:lnTo>
                  <a:lnTo>
                    <a:pt x="264493" y="450530"/>
                  </a:lnTo>
                  <a:lnTo>
                    <a:pt x="300428" y="417432"/>
                  </a:lnTo>
                  <a:lnTo>
                    <a:pt x="324011" y="375501"/>
                  </a:lnTo>
                  <a:lnTo>
                    <a:pt x="332485" y="327278"/>
                  </a:lnTo>
                  <a:lnTo>
                    <a:pt x="324011" y="279069"/>
                  </a:lnTo>
                  <a:lnTo>
                    <a:pt x="300428" y="237169"/>
                  </a:lnTo>
                  <a:lnTo>
                    <a:pt x="264493" y="204109"/>
                  </a:lnTo>
                  <a:lnTo>
                    <a:pt x="218963" y="182417"/>
                  </a:lnTo>
                  <a:lnTo>
                    <a:pt x="177692" y="176275"/>
                  </a:lnTo>
                  <a:lnTo>
                    <a:pt x="140677" y="176275"/>
                  </a:lnTo>
                  <a:lnTo>
                    <a:pt x="146094" y="169737"/>
                  </a:lnTo>
                  <a:lnTo>
                    <a:pt x="200207" y="123789"/>
                  </a:lnTo>
                  <a:lnTo>
                    <a:pt x="240922" y="103790"/>
                  </a:lnTo>
                  <a:lnTo>
                    <a:pt x="285108" y="91459"/>
                  </a:lnTo>
                  <a:lnTo>
                    <a:pt x="331724" y="87249"/>
                  </a:lnTo>
                  <a:lnTo>
                    <a:pt x="331724" y="0"/>
                  </a:lnTo>
                  <a:close/>
                </a:path>
                <a:path w="759460" h="480060">
                  <a:moveTo>
                    <a:pt x="167372" y="174740"/>
                  </a:moveTo>
                  <a:lnTo>
                    <a:pt x="159996" y="174740"/>
                  </a:lnTo>
                  <a:lnTo>
                    <a:pt x="153500" y="175069"/>
                  </a:lnTo>
                  <a:lnTo>
                    <a:pt x="147072" y="175589"/>
                  </a:lnTo>
                  <a:lnTo>
                    <a:pt x="140677" y="176275"/>
                  </a:lnTo>
                  <a:lnTo>
                    <a:pt x="177692" y="176275"/>
                  </a:lnTo>
                  <a:lnTo>
                    <a:pt x="167372" y="174740"/>
                  </a:lnTo>
                  <a:close/>
                </a:path>
                <a:path w="759460" h="480060">
                  <a:moveTo>
                    <a:pt x="758189" y="0"/>
                  </a:moveTo>
                  <a:lnTo>
                    <a:pt x="709157" y="3312"/>
                  </a:lnTo>
                  <a:lnTo>
                    <a:pt x="662363" y="12934"/>
                  </a:lnTo>
                  <a:lnTo>
                    <a:pt x="618319" y="28392"/>
                  </a:lnTo>
                  <a:lnTo>
                    <a:pt x="577538" y="49215"/>
                  </a:lnTo>
                  <a:lnTo>
                    <a:pt x="540532" y="74928"/>
                  </a:lnTo>
                  <a:lnTo>
                    <a:pt x="507813" y="105059"/>
                  </a:lnTo>
                  <a:lnTo>
                    <a:pt x="479894" y="139136"/>
                  </a:lnTo>
                  <a:lnTo>
                    <a:pt x="457288" y="176684"/>
                  </a:lnTo>
                  <a:lnTo>
                    <a:pt x="440506" y="217232"/>
                  </a:lnTo>
                  <a:lnTo>
                    <a:pt x="430061" y="260307"/>
                  </a:lnTo>
                  <a:lnTo>
                    <a:pt x="426466" y="305435"/>
                  </a:lnTo>
                  <a:lnTo>
                    <a:pt x="427228" y="327278"/>
                  </a:lnTo>
                  <a:lnTo>
                    <a:pt x="435699" y="375501"/>
                  </a:lnTo>
                  <a:lnTo>
                    <a:pt x="459276" y="417432"/>
                  </a:lnTo>
                  <a:lnTo>
                    <a:pt x="495204" y="450530"/>
                  </a:lnTo>
                  <a:lnTo>
                    <a:pt x="540727" y="472254"/>
                  </a:lnTo>
                  <a:lnTo>
                    <a:pt x="593090" y="480060"/>
                  </a:lnTo>
                  <a:lnTo>
                    <a:pt x="645452" y="472254"/>
                  </a:lnTo>
                  <a:lnTo>
                    <a:pt x="690975" y="450530"/>
                  </a:lnTo>
                  <a:lnTo>
                    <a:pt x="726903" y="417432"/>
                  </a:lnTo>
                  <a:lnTo>
                    <a:pt x="750480" y="375501"/>
                  </a:lnTo>
                  <a:lnTo>
                    <a:pt x="758951" y="327278"/>
                  </a:lnTo>
                  <a:lnTo>
                    <a:pt x="750480" y="279069"/>
                  </a:lnTo>
                  <a:lnTo>
                    <a:pt x="726903" y="237169"/>
                  </a:lnTo>
                  <a:lnTo>
                    <a:pt x="690975" y="204109"/>
                  </a:lnTo>
                  <a:lnTo>
                    <a:pt x="645452" y="182417"/>
                  </a:lnTo>
                  <a:lnTo>
                    <a:pt x="604183" y="176275"/>
                  </a:lnTo>
                  <a:lnTo>
                    <a:pt x="567182" y="176275"/>
                  </a:lnTo>
                  <a:lnTo>
                    <a:pt x="572583" y="169737"/>
                  </a:lnTo>
                  <a:lnTo>
                    <a:pt x="626709" y="123789"/>
                  </a:lnTo>
                  <a:lnTo>
                    <a:pt x="667416" y="103790"/>
                  </a:lnTo>
                  <a:lnTo>
                    <a:pt x="711600" y="91459"/>
                  </a:lnTo>
                  <a:lnTo>
                    <a:pt x="758189" y="87249"/>
                  </a:lnTo>
                  <a:lnTo>
                    <a:pt x="758189" y="0"/>
                  </a:lnTo>
                  <a:close/>
                </a:path>
                <a:path w="759460" h="480060">
                  <a:moveTo>
                    <a:pt x="593863" y="174740"/>
                  </a:moveTo>
                  <a:lnTo>
                    <a:pt x="586487" y="174740"/>
                  </a:lnTo>
                  <a:lnTo>
                    <a:pt x="579993" y="175069"/>
                  </a:lnTo>
                  <a:lnTo>
                    <a:pt x="573569" y="175589"/>
                  </a:lnTo>
                  <a:lnTo>
                    <a:pt x="567182" y="176275"/>
                  </a:lnTo>
                  <a:lnTo>
                    <a:pt x="604183" y="176275"/>
                  </a:lnTo>
                  <a:lnTo>
                    <a:pt x="593863" y="1747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89479" y="1603984"/>
            <a:ext cx="4956175" cy="160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accurate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good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experience.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liked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most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provided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team.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are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patience,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soft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spoken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go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extra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mile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serve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clients.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Till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haven't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seen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guys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team.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asset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TrueData.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Vishal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Mehta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Trader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Founder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MarketScanner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66132" y="4122420"/>
            <a:ext cx="757555" cy="480059"/>
          </a:xfrm>
          <a:custGeom>
            <a:avLst/>
            <a:gdLst/>
            <a:ahLst/>
            <a:cxnLst/>
            <a:rect l="l" t="t" r="r" b="b"/>
            <a:pathLst>
              <a:path w="757554" h="480060">
                <a:moveTo>
                  <a:pt x="331088" y="0"/>
                </a:moveTo>
                <a:lnTo>
                  <a:pt x="282157" y="3312"/>
                </a:lnTo>
                <a:lnTo>
                  <a:pt x="235457" y="12934"/>
                </a:lnTo>
                <a:lnTo>
                  <a:pt x="191499" y="28392"/>
                </a:lnTo>
                <a:lnTo>
                  <a:pt x="150796" y="49215"/>
                </a:lnTo>
                <a:lnTo>
                  <a:pt x="113860" y="74928"/>
                </a:lnTo>
                <a:lnTo>
                  <a:pt x="81202" y="105059"/>
                </a:lnTo>
                <a:lnTo>
                  <a:pt x="53334" y="139136"/>
                </a:lnTo>
                <a:lnTo>
                  <a:pt x="30768" y="176684"/>
                </a:lnTo>
                <a:lnTo>
                  <a:pt x="14015" y="217232"/>
                </a:lnTo>
                <a:lnTo>
                  <a:pt x="3589" y="260307"/>
                </a:lnTo>
                <a:lnTo>
                  <a:pt x="0" y="305434"/>
                </a:lnTo>
                <a:lnTo>
                  <a:pt x="762" y="327278"/>
                </a:lnTo>
                <a:lnTo>
                  <a:pt x="9218" y="375501"/>
                </a:lnTo>
                <a:lnTo>
                  <a:pt x="32749" y="417432"/>
                </a:lnTo>
                <a:lnTo>
                  <a:pt x="68601" y="450530"/>
                </a:lnTo>
                <a:lnTo>
                  <a:pt x="114017" y="472254"/>
                </a:lnTo>
                <a:lnTo>
                  <a:pt x="166242" y="480059"/>
                </a:lnTo>
                <a:lnTo>
                  <a:pt x="218530" y="472254"/>
                </a:lnTo>
                <a:lnTo>
                  <a:pt x="263984" y="450530"/>
                </a:lnTo>
                <a:lnTo>
                  <a:pt x="299855" y="417432"/>
                </a:lnTo>
                <a:lnTo>
                  <a:pt x="323393" y="375501"/>
                </a:lnTo>
                <a:lnTo>
                  <a:pt x="331850" y="327278"/>
                </a:lnTo>
                <a:lnTo>
                  <a:pt x="323393" y="279069"/>
                </a:lnTo>
                <a:lnTo>
                  <a:pt x="299855" y="237169"/>
                </a:lnTo>
                <a:lnTo>
                  <a:pt x="263984" y="204109"/>
                </a:lnTo>
                <a:lnTo>
                  <a:pt x="218530" y="182417"/>
                </a:lnTo>
                <a:lnTo>
                  <a:pt x="177320" y="176275"/>
                </a:lnTo>
                <a:lnTo>
                  <a:pt x="140462" y="176275"/>
                </a:lnTo>
                <a:lnTo>
                  <a:pt x="145843" y="169737"/>
                </a:lnTo>
                <a:lnTo>
                  <a:pt x="199822" y="123789"/>
                </a:lnTo>
                <a:lnTo>
                  <a:pt x="240442" y="103790"/>
                </a:lnTo>
                <a:lnTo>
                  <a:pt x="284539" y="91459"/>
                </a:lnTo>
                <a:lnTo>
                  <a:pt x="331088" y="87248"/>
                </a:lnTo>
                <a:lnTo>
                  <a:pt x="331088" y="0"/>
                </a:lnTo>
                <a:close/>
              </a:path>
              <a:path w="757554" h="480060">
                <a:moveTo>
                  <a:pt x="167015" y="174740"/>
                </a:moveTo>
                <a:lnTo>
                  <a:pt x="159642" y="174740"/>
                </a:lnTo>
                <a:lnTo>
                  <a:pt x="153162" y="175069"/>
                </a:lnTo>
                <a:lnTo>
                  <a:pt x="146776" y="175589"/>
                </a:lnTo>
                <a:lnTo>
                  <a:pt x="140462" y="176275"/>
                </a:lnTo>
                <a:lnTo>
                  <a:pt x="177320" y="176275"/>
                </a:lnTo>
                <a:lnTo>
                  <a:pt x="167015" y="174740"/>
                </a:lnTo>
                <a:close/>
              </a:path>
              <a:path w="757554" h="480060">
                <a:moveTo>
                  <a:pt x="756665" y="0"/>
                </a:moveTo>
                <a:lnTo>
                  <a:pt x="707734" y="3312"/>
                </a:lnTo>
                <a:lnTo>
                  <a:pt x="661034" y="12934"/>
                </a:lnTo>
                <a:lnTo>
                  <a:pt x="617076" y="28392"/>
                </a:lnTo>
                <a:lnTo>
                  <a:pt x="576373" y="49215"/>
                </a:lnTo>
                <a:lnTo>
                  <a:pt x="539437" y="74928"/>
                </a:lnTo>
                <a:lnTo>
                  <a:pt x="506779" y="105059"/>
                </a:lnTo>
                <a:lnTo>
                  <a:pt x="478911" y="139136"/>
                </a:lnTo>
                <a:lnTo>
                  <a:pt x="456345" y="176684"/>
                </a:lnTo>
                <a:lnTo>
                  <a:pt x="439592" y="217232"/>
                </a:lnTo>
                <a:lnTo>
                  <a:pt x="429166" y="260307"/>
                </a:lnTo>
                <a:lnTo>
                  <a:pt x="425576" y="305434"/>
                </a:lnTo>
                <a:lnTo>
                  <a:pt x="426338" y="327278"/>
                </a:lnTo>
                <a:lnTo>
                  <a:pt x="434796" y="375501"/>
                </a:lnTo>
                <a:lnTo>
                  <a:pt x="458334" y="417432"/>
                </a:lnTo>
                <a:lnTo>
                  <a:pt x="494205" y="450530"/>
                </a:lnTo>
                <a:lnTo>
                  <a:pt x="539659" y="472254"/>
                </a:lnTo>
                <a:lnTo>
                  <a:pt x="591946" y="480059"/>
                </a:lnTo>
                <a:lnTo>
                  <a:pt x="644172" y="472254"/>
                </a:lnTo>
                <a:lnTo>
                  <a:pt x="689588" y="450530"/>
                </a:lnTo>
                <a:lnTo>
                  <a:pt x="725440" y="417432"/>
                </a:lnTo>
                <a:lnTo>
                  <a:pt x="748971" y="375501"/>
                </a:lnTo>
                <a:lnTo>
                  <a:pt x="757427" y="327278"/>
                </a:lnTo>
                <a:lnTo>
                  <a:pt x="748971" y="279069"/>
                </a:lnTo>
                <a:lnTo>
                  <a:pt x="725440" y="237169"/>
                </a:lnTo>
                <a:lnTo>
                  <a:pt x="689588" y="204109"/>
                </a:lnTo>
                <a:lnTo>
                  <a:pt x="644172" y="182417"/>
                </a:lnTo>
                <a:lnTo>
                  <a:pt x="603011" y="176275"/>
                </a:lnTo>
                <a:lnTo>
                  <a:pt x="566038" y="176275"/>
                </a:lnTo>
                <a:lnTo>
                  <a:pt x="571420" y="169737"/>
                </a:lnTo>
                <a:lnTo>
                  <a:pt x="625417" y="123789"/>
                </a:lnTo>
                <a:lnTo>
                  <a:pt x="666067" y="103790"/>
                </a:lnTo>
                <a:lnTo>
                  <a:pt x="710170" y="91459"/>
                </a:lnTo>
                <a:lnTo>
                  <a:pt x="756665" y="87248"/>
                </a:lnTo>
                <a:lnTo>
                  <a:pt x="756665" y="0"/>
                </a:lnTo>
                <a:close/>
              </a:path>
              <a:path w="757554" h="480060">
                <a:moveTo>
                  <a:pt x="592718" y="174740"/>
                </a:moveTo>
                <a:lnTo>
                  <a:pt x="585344" y="174740"/>
                </a:lnTo>
                <a:lnTo>
                  <a:pt x="578850" y="175069"/>
                </a:lnTo>
                <a:lnTo>
                  <a:pt x="572426" y="175589"/>
                </a:lnTo>
                <a:lnTo>
                  <a:pt x="566038" y="176275"/>
                </a:lnTo>
                <a:lnTo>
                  <a:pt x="603011" y="176275"/>
                </a:lnTo>
                <a:lnTo>
                  <a:pt x="592718" y="174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73521" y="4088739"/>
            <a:ext cx="5016500" cy="1367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admit.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TrueData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best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vendor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there.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speed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flexibility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r>
              <a:rPr sz="14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unmatched.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Good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Job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TrueData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team!</a:t>
            </a:r>
            <a:endParaRPr sz="1400">
              <a:latin typeface="Arial MT"/>
              <a:cs typeface="Arial MT"/>
            </a:endParaRPr>
          </a:p>
          <a:p>
            <a:pPr marL="12700" marR="97155">
              <a:lnSpc>
                <a:spcPct val="110000"/>
              </a:lnSpc>
              <a:spcBef>
                <a:spcPts val="132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Indrazith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Shantharaj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Market Profile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Trader,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Selling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Author,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Blogger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1300" y="6391655"/>
            <a:ext cx="8241665" cy="0"/>
          </a:xfrm>
          <a:custGeom>
            <a:avLst/>
            <a:gdLst/>
            <a:ahLst/>
            <a:cxnLst/>
            <a:rect l="l" t="t" r="r" b="b"/>
            <a:pathLst>
              <a:path w="8241665">
                <a:moveTo>
                  <a:pt x="824153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5904" y="1007363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179" y="0"/>
                </a:lnTo>
              </a:path>
            </a:pathLst>
          </a:custGeom>
          <a:ln w="57912">
            <a:solidFill>
              <a:srgbClr val="FBCD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494A69"/>
                </a:solidFill>
                <a:latin typeface="Arial MT"/>
                <a:cs typeface="Arial MT"/>
              </a:rPr>
              <a:t>Our</a:t>
            </a:r>
            <a:r>
              <a:rPr b="0" spc="-20" dirty="0">
                <a:solidFill>
                  <a:srgbClr val="494A69"/>
                </a:solidFill>
                <a:latin typeface="Arial MT"/>
                <a:cs typeface="Arial MT"/>
              </a:rPr>
              <a:t> </a:t>
            </a:r>
            <a:r>
              <a:rPr spc="-10" dirty="0"/>
              <a:t>Partners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8819" y="6267399"/>
            <a:ext cx="949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585858"/>
                </a:solidFill>
                <a:latin typeface="Arial MT"/>
                <a:cs typeface="Arial MT"/>
              </a:rPr>
              <a:t>TrueData.in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481" y="1415269"/>
            <a:ext cx="2827941" cy="73433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682231" y="130393"/>
            <a:ext cx="6632788" cy="3549213"/>
            <a:chOff x="5539618" y="1279620"/>
            <a:chExt cx="6632788" cy="3549213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9618" y="4042814"/>
              <a:ext cx="2464490" cy="7860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0274" y="1279620"/>
              <a:ext cx="3342132" cy="2971799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71F53AE-5013-08D2-F1AF-B45AD5177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481" y="4375931"/>
            <a:ext cx="1219200" cy="1066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AE94A6-4CB1-139E-61FD-2C09E43E8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882" y="4597884"/>
            <a:ext cx="3524250" cy="533400"/>
          </a:xfrm>
          <a:prstGeom prst="rect">
            <a:avLst/>
          </a:prstGeom>
          <a:solidFill>
            <a:schemeClr val="tx2"/>
          </a:solidFill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F9C867-A2BE-B3D3-C482-8F79F94C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D9C81C-31A8-6C31-14FC-A76BEA3AC94C}"/>
              </a:ext>
            </a:extLst>
          </p:cNvPr>
          <p:cNvSpPr/>
          <p:nvPr/>
        </p:nvSpPr>
        <p:spPr>
          <a:xfrm>
            <a:off x="2781300" y="6391655"/>
            <a:ext cx="8241665" cy="0"/>
          </a:xfrm>
          <a:custGeom>
            <a:avLst/>
            <a:gdLst/>
            <a:ahLst/>
            <a:cxnLst/>
            <a:rect l="l" t="t" r="r" b="b"/>
            <a:pathLst>
              <a:path w="8241665">
                <a:moveTo>
                  <a:pt x="824153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3A763E5-697D-CD56-6D02-0432605AAD67}"/>
              </a:ext>
            </a:extLst>
          </p:cNvPr>
          <p:cNvSpPr/>
          <p:nvPr/>
        </p:nvSpPr>
        <p:spPr>
          <a:xfrm>
            <a:off x="755904" y="1007363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179" y="0"/>
                </a:lnTo>
              </a:path>
            </a:pathLst>
          </a:custGeom>
          <a:ln w="57912">
            <a:solidFill>
              <a:srgbClr val="FBCD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8B4E992-7805-2162-D4CC-12801F064A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8819" y="322275"/>
            <a:ext cx="431038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494A69"/>
                </a:solidFill>
                <a:latin typeface="Arial MT"/>
                <a:cs typeface="Arial MT"/>
              </a:rPr>
              <a:t>Our</a:t>
            </a:r>
            <a:r>
              <a:rPr b="0" spc="-20" dirty="0">
                <a:solidFill>
                  <a:srgbClr val="494A69"/>
                </a:solidFill>
                <a:latin typeface="Arial MT"/>
                <a:cs typeface="Arial MT"/>
              </a:rPr>
              <a:t> </a:t>
            </a:r>
            <a:r>
              <a:rPr lang="en-US" b="0" spc="-20" dirty="0">
                <a:solidFill>
                  <a:srgbClr val="494A69"/>
                </a:solidFill>
                <a:latin typeface="Arial MT"/>
                <a:cs typeface="Arial MT"/>
              </a:rPr>
              <a:t>Broker </a:t>
            </a:r>
            <a:r>
              <a:rPr spc="-10" dirty="0"/>
              <a:t>Partners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CBA093-B15A-4198-0D70-17B0D67DF524}"/>
              </a:ext>
            </a:extLst>
          </p:cNvPr>
          <p:cNvSpPr txBox="1"/>
          <p:nvPr/>
        </p:nvSpPr>
        <p:spPr>
          <a:xfrm>
            <a:off x="718819" y="6267399"/>
            <a:ext cx="949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585858"/>
                </a:solidFill>
                <a:latin typeface="Arial MT"/>
                <a:cs typeface="Arial MT"/>
              </a:rPr>
              <a:t>TrueData.in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FA34314-B40D-28BF-F729-452F8F58B9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113" y="1524000"/>
            <a:ext cx="2827941" cy="7343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B32EEE-7215-220D-7881-976781792B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00" y="1366905"/>
            <a:ext cx="3162300" cy="8914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5B7E75-0089-D275-499E-EE83F7C2F7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90" y="1033996"/>
            <a:ext cx="1905000" cy="163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BBA104-C13B-0029-55D1-C76E9E5768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00" y="2594533"/>
            <a:ext cx="2743200" cy="13230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7BB084-CFFE-5765-ACF6-4BADFA1D45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31" y="4128854"/>
            <a:ext cx="2362201" cy="13716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C5889E-32B0-A95B-A829-3EF4C8A5D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4419600"/>
            <a:ext cx="2743200" cy="990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22EF5C-5FA2-CDF3-6B24-BD5E51DE81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8368" y="4419600"/>
            <a:ext cx="3124201" cy="86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8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3846" y="579577"/>
            <a:ext cx="2676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</a:rPr>
              <a:t>Contact</a:t>
            </a:r>
            <a:r>
              <a:rPr sz="4000" spc="-105" dirty="0">
                <a:solidFill>
                  <a:srgbClr val="FFFFFF"/>
                </a:solidFill>
              </a:rPr>
              <a:t> </a:t>
            </a:r>
            <a:r>
              <a:rPr sz="4000" b="0" spc="-25" dirty="0">
                <a:solidFill>
                  <a:srgbClr val="FFFFFF"/>
                </a:solidFill>
                <a:latin typeface="Arial MT"/>
                <a:cs typeface="Arial MT"/>
              </a:rPr>
              <a:t>Us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055" y="1404517"/>
            <a:ext cx="4594860" cy="83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Do</a:t>
            </a:r>
            <a:r>
              <a:rPr sz="1600" spc="-2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leave</a:t>
            </a:r>
            <a:r>
              <a:rPr sz="1600" spc="-3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us</a:t>
            </a:r>
            <a:r>
              <a:rPr sz="1600" spc="-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feedback</a:t>
            </a:r>
            <a:r>
              <a:rPr sz="1600" spc="-2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or</a:t>
            </a:r>
            <a:r>
              <a:rPr sz="1600" spc="-1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drop</a:t>
            </a:r>
            <a:r>
              <a:rPr sz="1600" spc="-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us</a:t>
            </a:r>
            <a:r>
              <a:rPr sz="1600" spc="-2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an</a:t>
            </a:r>
            <a:r>
              <a:rPr sz="1600" spc="-2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email</a:t>
            </a:r>
            <a:r>
              <a:rPr sz="16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if</a:t>
            </a:r>
            <a:r>
              <a:rPr sz="1600" spc="-1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1F1F1"/>
                </a:solidFill>
                <a:latin typeface="Arial MT"/>
                <a:cs typeface="Arial MT"/>
              </a:rPr>
              <a:t>you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wish</a:t>
            </a:r>
            <a:r>
              <a:rPr sz="16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collaborate</a:t>
            </a:r>
            <a:r>
              <a:rPr sz="16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or</a:t>
            </a:r>
            <a:r>
              <a:rPr sz="1600" spc="-1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have</a:t>
            </a:r>
            <a:r>
              <a:rPr sz="16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an</a:t>
            </a:r>
            <a:r>
              <a:rPr sz="16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idea</a:t>
            </a:r>
            <a:r>
              <a:rPr sz="1600" spc="-2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which</a:t>
            </a:r>
            <a:r>
              <a:rPr sz="16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1F1F1"/>
                </a:solidFill>
                <a:latin typeface="Arial MT"/>
                <a:cs typeface="Arial MT"/>
              </a:rPr>
              <a:t>we</a:t>
            </a:r>
            <a:r>
              <a:rPr sz="1600" spc="-1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1F1F1"/>
                </a:solidFill>
                <a:latin typeface="Arial MT"/>
                <a:cs typeface="Arial MT"/>
              </a:rPr>
              <a:t>could implement.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82396" y="3140964"/>
            <a:ext cx="8504555" cy="2940050"/>
            <a:chOff x="882396" y="3140964"/>
            <a:chExt cx="8504555" cy="2940050"/>
          </a:xfrm>
        </p:grpSpPr>
        <p:sp>
          <p:nvSpPr>
            <p:cNvPr id="8" name="object 8"/>
            <p:cNvSpPr/>
            <p:nvPr/>
          </p:nvSpPr>
          <p:spPr>
            <a:xfrm>
              <a:off x="923544" y="3140964"/>
              <a:ext cx="216535" cy="306705"/>
            </a:xfrm>
            <a:custGeom>
              <a:avLst/>
              <a:gdLst/>
              <a:ahLst/>
              <a:cxnLst/>
              <a:rect l="l" t="t" r="r" b="b"/>
              <a:pathLst>
                <a:path w="216534" h="306704">
                  <a:moveTo>
                    <a:pt x="108203" y="0"/>
                  </a:moveTo>
                  <a:lnTo>
                    <a:pt x="66115" y="8469"/>
                  </a:lnTo>
                  <a:lnTo>
                    <a:pt x="31718" y="31559"/>
                  </a:lnTo>
                  <a:lnTo>
                    <a:pt x="8512" y="65793"/>
                  </a:lnTo>
                  <a:lnTo>
                    <a:pt x="0" y="107696"/>
                  </a:lnTo>
                  <a:lnTo>
                    <a:pt x="1017" y="122185"/>
                  </a:lnTo>
                  <a:lnTo>
                    <a:pt x="16217" y="164337"/>
                  </a:lnTo>
                  <a:lnTo>
                    <a:pt x="102044" y="302006"/>
                  </a:lnTo>
                  <a:lnTo>
                    <a:pt x="103682" y="304673"/>
                  </a:lnTo>
                  <a:lnTo>
                    <a:pt x="106565" y="306324"/>
                  </a:lnTo>
                  <a:lnTo>
                    <a:pt x="112979" y="306324"/>
                  </a:lnTo>
                  <a:lnTo>
                    <a:pt x="115874" y="304673"/>
                  </a:lnTo>
                  <a:lnTo>
                    <a:pt x="117373" y="302006"/>
                  </a:lnTo>
                  <a:lnTo>
                    <a:pt x="130521" y="280162"/>
                  </a:lnTo>
                  <a:lnTo>
                    <a:pt x="109588" y="280162"/>
                  </a:lnTo>
                  <a:lnTo>
                    <a:pt x="31546" y="154939"/>
                  </a:lnTo>
                  <a:lnTo>
                    <a:pt x="25712" y="143896"/>
                  </a:lnTo>
                  <a:lnTo>
                    <a:pt x="21458" y="132222"/>
                  </a:lnTo>
                  <a:lnTo>
                    <a:pt x="18854" y="120096"/>
                  </a:lnTo>
                  <a:lnTo>
                    <a:pt x="17970" y="107696"/>
                  </a:lnTo>
                  <a:lnTo>
                    <a:pt x="25088" y="72751"/>
                  </a:lnTo>
                  <a:lnTo>
                    <a:pt x="44470" y="44164"/>
                  </a:lnTo>
                  <a:lnTo>
                    <a:pt x="73161" y="24864"/>
                  </a:lnTo>
                  <a:lnTo>
                    <a:pt x="108203" y="17780"/>
                  </a:lnTo>
                  <a:lnTo>
                    <a:pt x="164162" y="17780"/>
                  </a:lnTo>
                  <a:lnTo>
                    <a:pt x="150292" y="8469"/>
                  </a:lnTo>
                  <a:lnTo>
                    <a:pt x="108203" y="0"/>
                  </a:lnTo>
                  <a:close/>
                </a:path>
                <a:path w="216534" h="306704">
                  <a:moveTo>
                    <a:pt x="164162" y="17780"/>
                  </a:moveTo>
                  <a:lnTo>
                    <a:pt x="108203" y="17780"/>
                  </a:lnTo>
                  <a:lnTo>
                    <a:pt x="143246" y="24864"/>
                  </a:lnTo>
                  <a:lnTo>
                    <a:pt x="171937" y="44164"/>
                  </a:lnTo>
                  <a:lnTo>
                    <a:pt x="191319" y="72751"/>
                  </a:lnTo>
                  <a:lnTo>
                    <a:pt x="198437" y="107696"/>
                  </a:lnTo>
                  <a:lnTo>
                    <a:pt x="197601" y="119737"/>
                  </a:lnTo>
                  <a:lnTo>
                    <a:pt x="195140" y="131540"/>
                  </a:lnTo>
                  <a:lnTo>
                    <a:pt x="191124" y="142914"/>
                  </a:lnTo>
                  <a:lnTo>
                    <a:pt x="185623" y="153670"/>
                  </a:lnTo>
                  <a:lnTo>
                    <a:pt x="109588" y="280162"/>
                  </a:lnTo>
                  <a:lnTo>
                    <a:pt x="130521" y="280162"/>
                  </a:lnTo>
                  <a:lnTo>
                    <a:pt x="201079" y="162940"/>
                  </a:lnTo>
                  <a:lnTo>
                    <a:pt x="215336" y="122618"/>
                  </a:lnTo>
                  <a:lnTo>
                    <a:pt x="216408" y="107696"/>
                  </a:lnTo>
                  <a:lnTo>
                    <a:pt x="207895" y="65793"/>
                  </a:lnTo>
                  <a:lnTo>
                    <a:pt x="184689" y="31559"/>
                  </a:lnTo>
                  <a:lnTo>
                    <a:pt x="164162" y="177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6884" y="3194304"/>
              <a:ext cx="108203" cy="1082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8944" y="4029456"/>
              <a:ext cx="266915" cy="2651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86968" y="492099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018" y="0"/>
                  </a:moveTo>
                  <a:lnTo>
                    <a:pt x="88860" y="10890"/>
                  </a:lnTo>
                  <a:lnTo>
                    <a:pt x="42189" y="42163"/>
                  </a:lnTo>
                  <a:lnTo>
                    <a:pt x="10898" y="88852"/>
                  </a:lnTo>
                  <a:lnTo>
                    <a:pt x="0" y="144017"/>
                  </a:lnTo>
                  <a:lnTo>
                    <a:pt x="2768" y="172344"/>
                  </a:lnTo>
                  <a:lnTo>
                    <a:pt x="24126" y="223902"/>
                  </a:lnTo>
                  <a:lnTo>
                    <a:pt x="64152" y="263925"/>
                  </a:lnTo>
                  <a:lnTo>
                    <a:pt x="115689" y="285269"/>
                  </a:lnTo>
                  <a:lnTo>
                    <a:pt x="144018" y="288035"/>
                  </a:lnTo>
                  <a:lnTo>
                    <a:pt x="172346" y="285269"/>
                  </a:lnTo>
                  <a:lnTo>
                    <a:pt x="199175" y="277145"/>
                  </a:lnTo>
                  <a:lnTo>
                    <a:pt x="206593" y="273176"/>
                  </a:lnTo>
                  <a:lnTo>
                    <a:pt x="137617" y="273176"/>
                  </a:lnTo>
                  <a:lnTo>
                    <a:pt x="130575" y="270382"/>
                  </a:lnTo>
                  <a:lnTo>
                    <a:pt x="108597" y="270382"/>
                  </a:lnTo>
                  <a:lnTo>
                    <a:pt x="94715" y="265541"/>
                  </a:lnTo>
                  <a:lnTo>
                    <a:pt x="81556" y="259270"/>
                  </a:lnTo>
                  <a:lnTo>
                    <a:pt x="69249" y="251666"/>
                  </a:lnTo>
                  <a:lnTo>
                    <a:pt x="57924" y="242823"/>
                  </a:lnTo>
                  <a:lnTo>
                    <a:pt x="63666" y="238059"/>
                  </a:lnTo>
                  <a:lnTo>
                    <a:pt x="69432" y="233806"/>
                  </a:lnTo>
                  <a:lnTo>
                    <a:pt x="48577" y="233806"/>
                  </a:lnTo>
                  <a:lnTo>
                    <a:pt x="34483" y="216038"/>
                  </a:lnTo>
                  <a:lnTo>
                    <a:pt x="23614" y="195960"/>
                  </a:lnTo>
                  <a:lnTo>
                    <a:pt x="16343" y="173978"/>
                  </a:lnTo>
                  <a:lnTo>
                    <a:pt x="13042" y="150494"/>
                  </a:lnTo>
                  <a:lnTo>
                    <a:pt x="287403" y="150494"/>
                  </a:lnTo>
                  <a:lnTo>
                    <a:pt x="288035" y="144017"/>
                  </a:lnTo>
                  <a:lnTo>
                    <a:pt x="287415" y="137667"/>
                  </a:lnTo>
                  <a:lnTo>
                    <a:pt x="13025" y="137667"/>
                  </a:lnTo>
                  <a:lnTo>
                    <a:pt x="16339" y="114151"/>
                  </a:lnTo>
                  <a:lnTo>
                    <a:pt x="23583" y="92249"/>
                  </a:lnTo>
                  <a:lnTo>
                    <a:pt x="34381" y="72229"/>
                  </a:lnTo>
                  <a:lnTo>
                    <a:pt x="48336" y="54482"/>
                  </a:lnTo>
                  <a:lnTo>
                    <a:pt x="69113" y="54482"/>
                  </a:lnTo>
                  <a:lnTo>
                    <a:pt x="63445" y="50303"/>
                  </a:lnTo>
                  <a:lnTo>
                    <a:pt x="94641" y="22516"/>
                  </a:lnTo>
                  <a:lnTo>
                    <a:pt x="108597" y="17652"/>
                  </a:lnTo>
                  <a:lnTo>
                    <a:pt x="130575" y="17652"/>
                  </a:lnTo>
                  <a:lnTo>
                    <a:pt x="137617" y="14858"/>
                  </a:lnTo>
                  <a:lnTo>
                    <a:pt x="206593" y="14858"/>
                  </a:lnTo>
                  <a:lnTo>
                    <a:pt x="199175" y="10890"/>
                  </a:lnTo>
                  <a:lnTo>
                    <a:pt x="172346" y="2766"/>
                  </a:lnTo>
                  <a:lnTo>
                    <a:pt x="144018" y="0"/>
                  </a:lnTo>
                  <a:close/>
                </a:path>
                <a:path w="288290" h="288289">
                  <a:moveTo>
                    <a:pt x="150533" y="210692"/>
                  </a:moveTo>
                  <a:lnTo>
                    <a:pt x="137617" y="210692"/>
                  </a:lnTo>
                  <a:lnTo>
                    <a:pt x="137617" y="273176"/>
                  </a:lnTo>
                  <a:lnTo>
                    <a:pt x="150533" y="273176"/>
                  </a:lnTo>
                  <a:lnTo>
                    <a:pt x="150533" y="210692"/>
                  </a:lnTo>
                  <a:close/>
                </a:path>
                <a:path w="288290" h="288289">
                  <a:moveTo>
                    <a:pt x="210758" y="210692"/>
                  </a:moveTo>
                  <a:lnTo>
                    <a:pt x="150533" y="210692"/>
                  </a:lnTo>
                  <a:lnTo>
                    <a:pt x="161798" y="211736"/>
                  </a:lnTo>
                  <a:lnTo>
                    <a:pt x="172869" y="213709"/>
                  </a:lnTo>
                  <a:lnTo>
                    <a:pt x="183687" y="216586"/>
                  </a:lnTo>
                  <a:lnTo>
                    <a:pt x="194195" y="220344"/>
                  </a:lnTo>
                  <a:lnTo>
                    <a:pt x="192100" y="226440"/>
                  </a:lnTo>
                  <a:lnTo>
                    <a:pt x="169981" y="261858"/>
                  </a:lnTo>
                  <a:lnTo>
                    <a:pt x="150533" y="273176"/>
                  </a:lnTo>
                  <a:lnTo>
                    <a:pt x="206593" y="273176"/>
                  </a:lnTo>
                  <a:lnTo>
                    <a:pt x="211815" y="270382"/>
                  </a:lnTo>
                  <a:lnTo>
                    <a:pt x="179565" y="270382"/>
                  </a:lnTo>
                  <a:lnTo>
                    <a:pt x="184686" y="264689"/>
                  </a:lnTo>
                  <a:lnTo>
                    <a:pt x="205879" y="225932"/>
                  </a:lnTo>
                  <a:lnTo>
                    <a:pt x="229822" y="225932"/>
                  </a:lnTo>
                  <a:lnTo>
                    <a:pt x="225420" y="222694"/>
                  </a:lnTo>
                  <a:lnTo>
                    <a:pt x="217871" y="217840"/>
                  </a:lnTo>
                  <a:lnTo>
                    <a:pt x="210057" y="213486"/>
                  </a:lnTo>
                  <a:lnTo>
                    <a:pt x="210758" y="210692"/>
                  </a:lnTo>
                  <a:close/>
                </a:path>
                <a:path w="288290" h="288289">
                  <a:moveTo>
                    <a:pt x="95876" y="225932"/>
                  </a:moveTo>
                  <a:lnTo>
                    <a:pt x="82156" y="225932"/>
                  </a:lnTo>
                  <a:lnTo>
                    <a:pt x="84493" y="231901"/>
                  </a:lnTo>
                  <a:lnTo>
                    <a:pt x="86799" y="237489"/>
                  </a:lnTo>
                  <a:lnTo>
                    <a:pt x="86892" y="237743"/>
                  </a:lnTo>
                  <a:lnTo>
                    <a:pt x="108597" y="270382"/>
                  </a:lnTo>
                  <a:lnTo>
                    <a:pt x="130575" y="270382"/>
                  </a:lnTo>
                  <a:lnTo>
                    <a:pt x="127659" y="269226"/>
                  </a:lnTo>
                  <a:lnTo>
                    <a:pt x="118175" y="261858"/>
                  </a:lnTo>
                  <a:lnTo>
                    <a:pt x="109311" y="251227"/>
                  </a:lnTo>
                  <a:lnTo>
                    <a:pt x="101218" y="237489"/>
                  </a:lnTo>
                  <a:lnTo>
                    <a:pt x="98513" y="232155"/>
                  </a:lnTo>
                  <a:lnTo>
                    <a:pt x="96050" y="226440"/>
                  </a:lnTo>
                  <a:lnTo>
                    <a:pt x="95876" y="225932"/>
                  </a:lnTo>
                  <a:close/>
                </a:path>
                <a:path w="288290" h="288289">
                  <a:moveTo>
                    <a:pt x="229822" y="225932"/>
                  </a:moveTo>
                  <a:lnTo>
                    <a:pt x="205879" y="225932"/>
                  </a:lnTo>
                  <a:lnTo>
                    <a:pt x="212426" y="229625"/>
                  </a:lnTo>
                  <a:lnTo>
                    <a:pt x="218649" y="233664"/>
                  </a:lnTo>
                  <a:lnTo>
                    <a:pt x="224579" y="238059"/>
                  </a:lnTo>
                  <a:lnTo>
                    <a:pt x="230238" y="242823"/>
                  </a:lnTo>
                  <a:lnTo>
                    <a:pt x="218907" y="251666"/>
                  </a:lnTo>
                  <a:lnTo>
                    <a:pt x="206602" y="259270"/>
                  </a:lnTo>
                  <a:lnTo>
                    <a:pt x="193446" y="265541"/>
                  </a:lnTo>
                  <a:lnTo>
                    <a:pt x="179565" y="270382"/>
                  </a:lnTo>
                  <a:lnTo>
                    <a:pt x="211815" y="270382"/>
                  </a:lnTo>
                  <a:lnTo>
                    <a:pt x="223883" y="263925"/>
                  </a:lnTo>
                  <a:lnTo>
                    <a:pt x="245846" y="245871"/>
                  </a:lnTo>
                  <a:lnTo>
                    <a:pt x="255766" y="233806"/>
                  </a:lnTo>
                  <a:lnTo>
                    <a:pt x="239572" y="233806"/>
                  </a:lnTo>
                  <a:lnTo>
                    <a:pt x="232666" y="228024"/>
                  </a:lnTo>
                  <a:lnTo>
                    <a:pt x="229822" y="225932"/>
                  </a:lnTo>
                  <a:close/>
                </a:path>
                <a:path w="288290" h="288289">
                  <a:moveTo>
                    <a:pt x="81787" y="150494"/>
                  </a:moveTo>
                  <a:lnTo>
                    <a:pt x="68872" y="150494"/>
                  </a:lnTo>
                  <a:lnTo>
                    <a:pt x="69727" y="165647"/>
                  </a:lnTo>
                  <a:lnTo>
                    <a:pt x="69811" y="167124"/>
                  </a:lnTo>
                  <a:lnTo>
                    <a:pt x="71697" y="183229"/>
                  </a:lnTo>
                  <a:lnTo>
                    <a:pt x="74532" y="198812"/>
                  </a:lnTo>
                  <a:lnTo>
                    <a:pt x="78219" y="213486"/>
                  </a:lnTo>
                  <a:lnTo>
                    <a:pt x="70329" y="217840"/>
                  </a:lnTo>
                  <a:lnTo>
                    <a:pt x="62738" y="222694"/>
                  </a:lnTo>
                  <a:lnTo>
                    <a:pt x="55482" y="228024"/>
                  </a:lnTo>
                  <a:lnTo>
                    <a:pt x="48577" y="233806"/>
                  </a:lnTo>
                  <a:lnTo>
                    <a:pt x="69432" y="233806"/>
                  </a:lnTo>
                  <a:lnTo>
                    <a:pt x="69626" y="233664"/>
                  </a:lnTo>
                  <a:lnTo>
                    <a:pt x="75793" y="229625"/>
                  </a:lnTo>
                  <a:lnTo>
                    <a:pt x="82156" y="225932"/>
                  </a:lnTo>
                  <a:lnTo>
                    <a:pt x="95876" y="225932"/>
                  </a:lnTo>
                  <a:lnTo>
                    <a:pt x="93967" y="220344"/>
                  </a:lnTo>
                  <a:lnTo>
                    <a:pt x="104418" y="216586"/>
                  </a:lnTo>
                  <a:lnTo>
                    <a:pt x="115105" y="213709"/>
                  </a:lnTo>
                  <a:lnTo>
                    <a:pt x="116259" y="213486"/>
                  </a:lnTo>
                  <a:lnTo>
                    <a:pt x="126051" y="211736"/>
                  </a:lnTo>
                  <a:lnTo>
                    <a:pt x="125742" y="211736"/>
                  </a:lnTo>
                  <a:lnTo>
                    <a:pt x="137617" y="210692"/>
                  </a:lnTo>
                  <a:lnTo>
                    <a:pt x="210758" y="210692"/>
                  </a:lnTo>
                  <a:lnTo>
                    <a:pt x="211395" y="208152"/>
                  </a:lnTo>
                  <a:lnTo>
                    <a:pt x="90030" y="208152"/>
                  </a:lnTo>
                  <a:lnTo>
                    <a:pt x="86733" y="194571"/>
                  </a:lnTo>
                  <a:lnTo>
                    <a:pt x="84247" y="180371"/>
                  </a:lnTo>
                  <a:lnTo>
                    <a:pt x="82591" y="165647"/>
                  </a:lnTo>
                  <a:lnTo>
                    <a:pt x="81787" y="150494"/>
                  </a:lnTo>
                  <a:close/>
                </a:path>
                <a:path w="288290" h="288289">
                  <a:moveTo>
                    <a:pt x="287403" y="150494"/>
                  </a:moveTo>
                  <a:lnTo>
                    <a:pt x="275120" y="150494"/>
                  </a:lnTo>
                  <a:lnTo>
                    <a:pt x="271814" y="173978"/>
                  </a:lnTo>
                  <a:lnTo>
                    <a:pt x="264542" y="195960"/>
                  </a:lnTo>
                  <a:lnTo>
                    <a:pt x="253672" y="216038"/>
                  </a:lnTo>
                  <a:lnTo>
                    <a:pt x="239686" y="233664"/>
                  </a:lnTo>
                  <a:lnTo>
                    <a:pt x="239572" y="233806"/>
                  </a:lnTo>
                  <a:lnTo>
                    <a:pt x="255766" y="233806"/>
                  </a:lnTo>
                  <a:lnTo>
                    <a:pt x="263909" y="223902"/>
                  </a:lnTo>
                  <a:lnTo>
                    <a:pt x="277137" y="199183"/>
                  </a:lnTo>
                  <a:lnTo>
                    <a:pt x="285267" y="172344"/>
                  </a:lnTo>
                  <a:lnTo>
                    <a:pt x="287403" y="150494"/>
                  </a:lnTo>
                  <a:close/>
                </a:path>
                <a:path w="288290" h="288289">
                  <a:moveTo>
                    <a:pt x="150533" y="150494"/>
                  </a:moveTo>
                  <a:lnTo>
                    <a:pt x="137617" y="150494"/>
                  </a:lnTo>
                  <a:lnTo>
                    <a:pt x="137617" y="197738"/>
                  </a:lnTo>
                  <a:lnTo>
                    <a:pt x="124697" y="198812"/>
                  </a:lnTo>
                  <a:lnTo>
                    <a:pt x="125032" y="198812"/>
                  </a:lnTo>
                  <a:lnTo>
                    <a:pt x="113092" y="200898"/>
                  </a:lnTo>
                  <a:lnTo>
                    <a:pt x="101427" y="204007"/>
                  </a:lnTo>
                  <a:lnTo>
                    <a:pt x="90030" y="208152"/>
                  </a:lnTo>
                  <a:lnTo>
                    <a:pt x="198132" y="208152"/>
                  </a:lnTo>
                  <a:lnTo>
                    <a:pt x="186632" y="204007"/>
                  </a:lnTo>
                  <a:lnTo>
                    <a:pt x="174842" y="200898"/>
                  </a:lnTo>
                  <a:lnTo>
                    <a:pt x="162797" y="198812"/>
                  </a:lnTo>
                  <a:lnTo>
                    <a:pt x="150533" y="197738"/>
                  </a:lnTo>
                  <a:lnTo>
                    <a:pt x="150533" y="150494"/>
                  </a:lnTo>
                  <a:close/>
                </a:path>
                <a:path w="288290" h="288289">
                  <a:moveTo>
                    <a:pt x="219290" y="150494"/>
                  </a:moveTo>
                  <a:lnTo>
                    <a:pt x="206247" y="150494"/>
                  </a:lnTo>
                  <a:lnTo>
                    <a:pt x="205515" y="165647"/>
                  </a:lnTo>
                  <a:lnTo>
                    <a:pt x="203895" y="180371"/>
                  </a:lnTo>
                  <a:lnTo>
                    <a:pt x="201422" y="194571"/>
                  </a:lnTo>
                  <a:lnTo>
                    <a:pt x="198132" y="208152"/>
                  </a:lnTo>
                  <a:lnTo>
                    <a:pt x="211395" y="208152"/>
                  </a:lnTo>
                  <a:lnTo>
                    <a:pt x="213645" y="199183"/>
                  </a:lnTo>
                  <a:lnTo>
                    <a:pt x="213738" y="198812"/>
                  </a:lnTo>
                  <a:lnTo>
                    <a:pt x="216556" y="183229"/>
                  </a:lnTo>
                  <a:lnTo>
                    <a:pt x="218411" y="167124"/>
                  </a:lnTo>
                  <a:lnTo>
                    <a:pt x="219290" y="150494"/>
                  </a:lnTo>
                  <a:close/>
                </a:path>
                <a:path w="288290" h="288289">
                  <a:moveTo>
                    <a:pt x="69113" y="54482"/>
                  </a:moveTo>
                  <a:lnTo>
                    <a:pt x="48336" y="54482"/>
                  </a:lnTo>
                  <a:lnTo>
                    <a:pt x="55342" y="60338"/>
                  </a:lnTo>
                  <a:lnTo>
                    <a:pt x="62688" y="65706"/>
                  </a:lnTo>
                  <a:lnTo>
                    <a:pt x="70306" y="70574"/>
                  </a:lnTo>
                  <a:lnTo>
                    <a:pt x="78092" y="74929"/>
                  </a:lnTo>
                  <a:lnTo>
                    <a:pt x="74374" y="89713"/>
                  </a:lnTo>
                  <a:lnTo>
                    <a:pt x="71596" y="105044"/>
                  </a:lnTo>
                  <a:lnTo>
                    <a:pt x="69744" y="121060"/>
                  </a:lnTo>
                  <a:lnTo>
                    <a:pt x="68865" y="137667"/>
                  </a:lnTo>
                  <a:lnTo>
                    <a:pt x="81781" y="137667"/>
                  </a:lnTo>
                  <a:lnTo>
                    <a:pt x="82515" y="122539"/>
                  </a:lnTo>
                  <a:lnTo>
                    <a:pt x="84121" y="107886"/>
                  </a:lnTo>
                  <a:lnTo>
                    <a:pt x="86550" y="93805"/>
                  </a:lnTo>
                  <a:lnTo>
                    <a:pt x="89746" y="80390"/>
                  </a:lnTo>
                  <a:lnTo>
                    <a:pt x="211409" y="80390"/>
                  </a:lnTo>
                  <a:lnTo>
                    <a:pt x="210780" y="77850"/>
                  </a:lnTo>
                  <a:lnTo>
                    <a:pt x="137617" y="77850"/>
                  </a:lnTo>
                  <a:lnTo>
                    <a:pt x="126285" y="76733"/>
                  </a:lnTo>
                  <a:lnTo>
                    <a:pt x="115181" y="74723"/>
                  </a:lnTo>
                  <a:lnTo>
                    <a:pt x="104350" y="71832"/>
                  </a:lnTo>
                  <a:lnTo>
                    <a:pt x="93840" y="68071"/>
                  </a:lnTo>
                  <a:lnTo>
                    <a:pt x="95721" y="62483"/>
                  </a:lnTo>
                  <a:lnTo>
                    <a:pt x="82156" y="62483"/>
                  </a:lnTo>
                  <a:lnTo>
                    <a:pt x="75701" y="58789"/>
                  </a:lnTo>
                  <a:lnTo>
                    <a:pt x="69457" y="54736"/>
                  </a:lnTo>
                  <a:lnTo>
                    <a:pt x="69113" y="54482"/>
                  </a:lnTo>
                  <a:close/>
                </a:path>
                <a:path w="288290" h="288289">
                  <a:moveTo>
                    <a:pt x="198132" y="80390"/>
                  </a:moveTo>
                  <a:lnTo>
                    <a:pt x="90127" y="80390"/>
                  </a:lnTo>
                  <a:lnTo>
                    <a:pt x="101506" y="84482"/>
                  </a:lnTo>
                  <a:lnTo>
                    <a:pt x="113313" y="87598"/>
                  </a:lnTo>
                  <a:lnTo>
                    <a:pt x="125539" y="89713"/>
                  </a:lnTo>
                  <a:lnTo>
                    <a:pt x="125887" y="89713"/>
                  </a:lnTo>
                  <a:lnTo>
                    <a:pt x="139032" y="90804"/>
                  </a:lnTo>
                  <a:lnTo>
                    <a:pt x="137502" y="90804"/>
                  </a:lnTo>
                  <a:lnTo>
                    <a:pt x="137502" y="137667"/>
                  </a:lnTo>
                  <a:lnTo>
                    <a:pt x="150533" y="137667"/>
                  </a:lnTo>
                  <a:lnTo>
                    <a:pt x="150533" y="90804"/>
                  </a:lnTo>
                  <a:lnTo>
                    <a:pt x="162815" y="89713"/>
                  </a:lnTo>
                  <a:lnTo>
                    <a:pt x="174890" y="87598"/>
                  </a:lnTo>
                  <a:lnTo>
                    <a:pt x="186685" y="84482"/>
                  </a:lnTo>
                  <a:lnTo>
                    <a:pt x="198132" y="80390"/>
                  </a:lnTo>
                  <a:close/>
                </a:path>
                <a:path w="288290" h="288289">
                  <a:moveTo>
                    <a:pt x="211409" y="80390"/>
                  </a:moveTo>
                  <a:lnTo>
                    <a:pt x="198132" y="80390"/>
                  </a:lnTo>
                  <a:lnTo>
                    <a:pt x="201404" y="93805"/>
                  </a:lnTo>
                  <a:lnTo>
                    <a:pt x="203847" y="107886"/>
                  </a:lnTo>
                  <a:lnTo>
                    <a:pt x="205462" y="122539"/>
                  </a:lnTo>
                  <a:lnTo>
                    <a:pt x="206247" y="137667"/>
                  </a:lnTo>
                  <a:lnTo>
                    <a:pt x="219170" y="137667"/>
                  </a:lnTo>
                  <a:lnTo>
                    <a:pt x="218371" y="122539"/>
                  </a:lnTo>
                  <a:lnTo>
                    <a:pt x="218292" y="121060"/>
                  </a:lnTo>
                  <a:lnTo>
                    <a:pt x="216454" y="105044"/>
                  </a:lnTo>
                  <a:lnTo>
                    <a:pt x="213709" y="89713"/>
                  </a:lnTo>
                  <a:lnTo>
                    <a:pt x="211409" y="80390"/>
                  </a:lnTo>
                  <a:close/>
                </a:path>
                <a:path w="288290" h="288289">
                  <a:moveTo>
                    <a:pt x="255975" y="54482"/>
                  </a:moveTo>
                  <a:lnTo>
                    <a:pt x="239699" y="54482"/>
                  </a:lnTo>
                  <a:lnTo>
                    <a:pt x="253708" y="72229"/>
                  </a:lnTo>
                  <a:lnTo>
                    <a:pt x="264499" y="92249"/>
                  </a:lnTo>
                  <a:lnTo>
                    <a:pt x="271714" y="114151"/>
                  </a:lnTo>
                  <a:lnTo>
                    <a:pt x="275010" y="137667"/>
                  </a:lnTo>
                  <a:lnTo>
                    <a:pt x="287415" y="137667"/>
                  </a:lnTo>
                  <a:lnTo>
                    <a:pt x="285267" y="115691"/>
                  </a:lnTo>
                  <a:lnTo>
                    <a:pt x="277137" y="88852"/>
                  </a:lnTo>
                  <a:lnTo>
                    <a:pt x="263909" y="64133"/>
                  </a:lnTo>
                  <a:lnTo>
                    <a:pt x="255975" y="54482"/>
                  </a:lnTo>
                  <a:close/>
                </a:path>
                <a:path w="288290" h="288289">
                  <a:moveTo>
                    <a:pt x="150533" y="14858"/>
                  </a:moveTo>
                  <a:lnTo>
                    <a:pt x="137617" y="14858"/>
                  </a:lnTo>
                  <a:lnTo>
                    <a:pt x="137617" y="77850"/>
                  </a:lnTo>
                  <a:lnTo>
                    <a:pt x="150533" y="77850"/>
                  </a:lnTo>
                  <a:lnTo>
                    <a:pt x="150533" y="14858"/>
                  </a:lnTo>
                  <a:close/>
                </a:path>
                <a:path w="288290" h="288289">
                  <a:moveTo>
                    <a:pt x="206593" y="14858"/>
                  </a:moveTo>
                  <a:lnTo>
                    <a:pt x="150533" y="14858"/>
                  </a:lnTo>
                  <a:lnTo>
                    <a:pt x="160426" y="18809"/>
                  </a:lnTo>
                  <a:lnTo>
                    <a:pt x="169891" y="26177"/>
                  </a:lnTo>
                  <a:lnTo>
                    <a:pt x="192100" y="61848"/>
                  </a:lnTo>
                  <a:lnTo>
                    <a:pt x="194322" y="68071"/>
                  </a:lnTo>
                  <a:lnTo>
                    <a:pt x="183740" y="71832"/>
                  </a:lnTo>
                  <a:lnTo>
                    <a:pt x="172885" y="74723"/>
                  </a:lnTo>
                  <a:lnTo>
                    <a:pt x="161800" y="76733"/>
                  </a:lnTo>
                  <a:lnTo>
                    <a:pt x="150533" y="77850"/>
                  </a:lnTo>
                  <a:lnTo>
                    <a:pt x="210780" y="77850"/>
                  </a:lnTo>
                  <a:lnTo>
                    <a:pt x="210057" y="74929"/>
                  </a:lnTo>
                  <a:lnTo>
                    <a:pt x="217873" y="70574"/>
                  </a:lnTo>
                  <a:lnTo>
                    <a:pt x="225436" y="65706"/>
                  </a:lnTo>
                  <a:lnTo>
                    <a:pt x="229808" y="62483"/>
                  </a:lnTo>
                  <a:lnTo>
                    <a:pt x="206006" y="62483"/>
                  </a:lnTo>
                  <a:lnTo>
                    <a:pt x="203784" y="56260"/>
                  </a:lnTo>
                  <a:lnTo>
                    <a:pt x="201315" y="50545"/>
                  </a:lnTo>
                  <a:lnTo>
                    <a:pt x="201211" y="50303"/>
                  </a:lnTo>
                  <a:lnTo>
                    <a:pt x="198373" y="44703"/>
                  </a:lnTo>
                  <a:lnTo>
                    <a:pt x="194070" y="36869"/>
                  </a:lnTo>
                  <a:lnTo>
                    <a:pt x="189463" y="29749"/>
                  </a:lnTo>
                  <a:lnTo>
                    <a:pt x="184577" y="23344"/>
                  </a:lnTo>
                  <a:lnTo>
                    <a:pt x="179438" y="17652"/>
                  </a:lnTo>
                  <a:lnTo>
                    <a:pt x="211815" y="17652"/>
                  </a:lnTo>
                  <a:lnTo>
                    <a:pt x="206593" y="14858"/>
                  </a:lnTo>
                  <a:close/>
                </a:path>
                <a:path w="288290" h="288289">
                  <a:moveTo>
                    <a:pt x="130575" y="17652"/>
                  </a:moveTo>
                  <a:lnTo>
                    <a:pt x="108597" y="17652"/>
                  </a:lnTo>
                  <a:lnTo>
                    <a:pt x="103476" y="23344"/>
                  </a:lnTo>
                  <a:lnTo>
                    <a:pt x="82156" y="62483"/>
                  </a:lnTo>
                  <a:lnTo>
                    <a:pt x="95721" y="62483"/>
                  </a:lnTo>
                  <a:lnTo>
                    <a:pt x="95935" y="61848"/>
                  </a:lnTo>
                  <a:lnTo>
                    <a:pt x="98280" y="56260"/>
                  </a:lnTo>
                  <a:lnTo>
                    <a:pt x="127659" y="18809"/>
                  </a:lnTo>
                  <a:lnTo>
                    <a:pt x="130575" y="17652"/>
                  </a:lnTo>
                  <a:close/>
                </a:path>
                <a:path w="288290" h="288289">
                  <a:moveTo>
                    <a:pt x="211815" y="17652"/>
                  </a:moveTo>
                  <a:lnTo>
                    <a:pt x="179438" y="17652"/>
                  </a:lnTo>
                  <a:lnTo>
                    <a:pt x="193467" y="22516"/>
                  </a:lnTo>
                  <a:lnTo>
                    <a:pt x="206711" y="28844"/>
                  </a:lnTo>
                  <a:lnTo>
                    <a:pt x="219078" y="36530"/>
                  </a:lnTo>
                  <a:lnTo>
                    <a:pt x="230479" y="45465"/>
                  </a:lnTo>
                  <a:lnTo>
                    <a:pt x="224716" y="50303"/>
                  </a:lnTo>
                  <a:lnTo>
                    <a:pt x="218700" y="54736"/>
                  </a:lnTo>
                  <a:lnTo>
                    <a:pt x="212455" y="58789"/>
                  </a:lnTo>
                  <a:lnTo>
                    <a:pt x="206006" y="62483"/>
                  </a:lnTo>
                  <a:lnTo>
                    <a:pt x="229808" y="62483"/>
                  </a:lnTo>
                  <a:lnTo>
                    <a:pt x="232719" y="60338"/>
                  </a:lnTo>
                  <a:lnTo>
                    <a:pt x="239699" y="54482"/>
                  </a:lnTo>
                  <a:lnTo>
                    <a:pt x="255975" y="54482"/>
                  </a:lnTo>
                  <a:lnTo>
                    <a:pt x="245846" y="42163"/>
                  </a:lnTo>
                  <a:lnTo>
                    <a:pt x="223883" y="24110"/>
                  </a:lnTo>
                  <a:lnTo>
                    <a:pt x="211815" y="17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2396" y="6076188"/>
              <a:ext cx="8504555" cy="0"/>
            </a:xfrm>
            <a:custGeom>
              <a:avLst/>
              <a:gdLst/>
              <a:ahLst/>
              <a:cxnLst/>
              <a:rect l="l" t="t" r="r" b="b"/>
              <a:pathLst>
                <a:path w="8504555">
                  <a:moveTo>
                    <a:pt x="8504047" y="0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E8A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46047" y="2911220"/>
            <a:ext cx="2976245" cy="24384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1869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309-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310, 3rd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Floor,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Ugati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Corporate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Park,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Gandhinagar,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(Gujarat)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382421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(+91)</a:t>
            </a:r>
            <a:r>
              <a:rPr sz="2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7304-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22-44-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66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111506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Truedata.in </a:t>
            </a:r>
            <a:r>
              <a:rPr sz="1600" spc="-10" dirty="0">
                <a:solidFill>
                  <a:srgbClr val="F1F1F1"/>
                </a:solidFill>
                <a:latin typeface="Arial MT"/>
                <a:cs typeface="Arial MT"/>
                <a:hlinkClick r:id="rId7"/>
              </a:rPr>
              <a:t>support@truedata.in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34906" y="5811418"/>
            <a:ext cx="18059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Thank</a:t>
            </a:r>
            <a:r>
              <a:rPr sz="28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You.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3171" y="2205227"/>
              <a:ext cx="4102608" cy="24475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1F1F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1334</Words>
  <Application>Microsoft Office PowerPoint</Application>
  <PresentationFormat>Widescreen</PresentationFormat>
  <Paragraphs>124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MT</vt:lpstr>
      <vt:lpstr>Calibri</vt:lpstr>
      <vt:lpstr>Courier New</vt:lpstr>
      <vt:lpstr>Office Theme</vt:lpstr>
      <vt:lpstr>Positioning you for Profits</vt:lpstr>
      <vt:lpstr>About Us</vt:lpstr>
      <vt:lpstr>Founder</vt:lpstr>
      <vt:lpstr>Our Services</vt:lpstr>
      <vt:lpstr>2020</vt:lpstr>
      <vt:lpstr>Our Most Loved Products</vt:lpstr>
      <vt:lpstr>TrueData™ Velocity Advantages</vt:lpstr>
      <vt:lpstr>TrueData™ Options Decoder Features</vt:lpstr>
      <vt:lpstr>TrueData™ API Advantage &amp; Features</vt:lpstr>
      <vt:lpstr>TrueData™ Daily IEOD &amp; Historical Data</vt:lpstr>
      <vt:lpstr>True Wealth Advantage &amp; Features</vt:lpstr>
      <vt:lpstr>PowerPoint Presentation</vt:lpstr>
      <vt:lpstr>PowerPoint Presentation</vt:lpstr>
      <vt:lpstr>Our Future Projects</vt:lpstr>
      <vt:lpstr>Testimonials</vt:lpstr>
      <vt:lpstr>Our Partners</vt:lpstr>
      <vt:lpstr>Our Broker Partners</vt:lpstr>
      <vt:lpstr>Contact 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Meyhar Singh</cp:lastModifiedBy>
  <cp:revision>22</cp:revision>
  <dcterms:created xsi:type="dcterms:W3CDTF">2025-06-18T07:22:07Z</dcterms:created>
  <dcterms:modified xsi:type="dcterms:W3CDTF">2025-06-23T12:07:00Z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2025-06-18T00:00:00Z</vt:filetime>
  </property>
  <property fmtid="{D5CDD505-2E9C-101B-9397-08002B2CF9AE}" pid="5" name="Producer">
    <vt:lpwstr>Microsoft® PowerPoint® 2013</vt:lpwstr>
  </property>
</Properties>
</file>